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300" r:id="rId3"/>
    <p:sldId id="312" r:id="rId4"/>
    <p:sldId id="313" r:id="rId5"/>
    <p:sldId id="314" r:id="rId6"/>
    <p:sldId id="315" r:id="rId7"/>
    <p:sldId id="316" r:id="rId8"/>
    <p:sldId id="322" r:id="rId9"/>
    <p:sldId id="311" r:id="rId10"/>
    <p:sldId id="317" r:id="rId11"/>
    <p:sldId id="304" r:id="rId12"/>
    <p:sldId id="301" r:id="rId13"/>
    <p:sldId id="318" r:id="rId14"/>
    <p:sldId id="310" r:id="rId15"/>
    <p:sldId id="319" r:id="rId16"/>
    <p:sldId id="303" r:id="rId17"/>
    <p:sldId id="320" r:id="rId18"/>
    <p:sldId id="321" r:id="rId19"/>
    <p:sldId id="305" r:id="rId20"/>
    <p:sldId id="306" r:id="rId21"/>
    <p:sldId id="307" r:id="rId22"/>
    <p:sldId id="309" r:id="rId23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FF"/>
    <a:srgbClr val="3399FF"/>
    <a:srgbClr val="99CCFF"/>
    <a:srgbClr val="FF6600"/>
    <a:srgbClr val="0099FF"/>
    <a:srgbClr val="D6926B"/>
    <a:srgbClr val="1F1F1F"/>
    <a:srgbClr val="0000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44" d="100"/>
          <a:sy n="44" d="100"/>
        </p:scale>
        <p:origin x="91" y="20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8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6074-3ABC-45E1-B916-FEC97060DD1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DD687-6233-47B9-B4B4-25AECA706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695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09915-3BD3-4C61-BDA5-20689B9856F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29B96-90C9-4C4A-9463-7040911BA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273300" y="3302000"/>
            <a:ext cx="13728700" cy="358619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2000"/>
              </a:lnSpc>
              <a:defRPr sz="15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286000" y="7019632"/>
            <a:ext cx="13716000" cy="6130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Author or subtitle here</a:t>
            </a:r>
            <a:endParaRPr 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260600" y="7511113"/>
            <a:ext cx="13716000" cy="379919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2286000" y="6856652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9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572000" y="6203398"/>
            <a:ext cx="13703862" cy="17459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Subtitle Here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559862" y="7911791"/>
            <a:ext cx="13716000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4572000" y="7829045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2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3614057"/>
            <a:ext cx="15748000" cy="278674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110512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3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Doub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2148114"/>
            <a:ext cx="15748000" cy="493485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5000"/>
              </a:lnSpc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792683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4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epar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10508342" y="0"/>
            <a:ext cx="7779657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90286" y="580571"/>
            <a:ext cx="9898743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13000"/>
              </a:lnSpc>
              <a:defRPr sz="16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0769598" y="580571"/>
            <a:ext cx="7024915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4000"/>
              </a:lnSpc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</a:p>
          <a:p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37200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3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-309282" y="4894169"/>
            <a:ext cx="6790764" cy="928687"/>
          </a:xfrm>
          <a:prstGeom prst="rect">
            <a:avLst/>
          </a:prstGeom>
        </p:spPr>
        <p:txBody>
          <a:bodyPr/>
          <a:lstStyle>
            <a:lvl1pPr algn="r">
              <a:defRPr sz="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-1" y="5876924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2635625"/>
            <a:ext cx="11024504" cy="577530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50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52912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8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2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Caption1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8"/>
          <p:cNvSpPr>
            <a:spLocks noGrp="1"/>
          </p:cNvSpPr>
          <p:nvPr>
            <p:ph type="body" sz="quarter" idx="15" hasCustomPrompt="1"/>
          </p:nvPr>
        </p:nvSpPr>
        <p:spPr>
          <a:xfrm>
            <a:off x="7107085" y="5478616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Caption2 Here</a:t>
            </a:r>
            <a:endParaRPr lang="ja-JP" altLang="en-US" dirty="0"/>
          </a:p>
        </p:txBody>
      </p:sp>
      <p:sp>
        <p:nvSpPr>
          <p:cNvPr id="16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07085" y="6167953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7131895" y="6060377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4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86224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39052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839053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831956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839053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5239977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092805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5092806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5085709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5092806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500079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9352907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9352908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9345811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9352908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図プレースホルダー 8"/>
          <p:cNvSpPr>
            <a:spLocks noGrp="1"/>
          </p:cNvSpPr>
          <p:nvPr>
            <p:ph type="pic" sz="quarter" idx="21" hasCustomPrompt="1"/>
          </p:nvPr>
        </p:nvSpPr>
        <p:spPr>
          <a:xfrm>
            <a:off x="13753832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3606660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30" name="テキスト プレースホルダー 8"/>
          <p:cNvSpPr>
            <a:spLocks noGrp="1"/>
          </p:cNvSpPr>
          <p:nvPr>
            <p:ph type="body" sz="quarter" idx="22" hasCustomPrompt="1"/>
          </p:nvPr>
        </p:nvSpPr>
        <p:spPr>
          <a:xfrm>
            <a:off x="13606661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31" name="テキスト プレースホルダー 8"/>
          <p:cNvSpPr>
            <a:spLocks noGrp="1"/>
          </p:cNvSpPr>
          <p:nvPr>
            <p:ph type="body" sz="quarter" idx="23" hasCustomPrompt="1"/>
          </p:nvPr>
        </p:nvSpPr>
        <p:spPr>
          <a:xfrm>
            <a:off x="13599564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32" name="直線コネクタ 31"/>
          <p:cNvCxnSpPr/>
          <p:nvPr userDrawn="1"/>
        </p:nvCxnSpPr>
        <p:spPr>
          <a:xfrm>
            <a:off x="13606661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8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7286491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7139319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12969740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22568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1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6587777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0680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6587777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271026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263929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271026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46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133967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126870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133967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881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6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69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6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685509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678412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685509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7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825584" y="2095656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8" name="正方形/長方形 17"/>
          <p:cNvSpPr/>
          <p:nvPr userDrawn="1"/>
        </p:nvSpPr>
        <p:spPr>
          <a:xfrm>
            <a:off x="9678412" y="2095656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9271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1675"/>
            <a:ext cx="18289652" cy="457241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22834"/>
            <a:ext cx="6481482" cy="635549"/>
          </a:xfrm>
          <a:prstGeom prst="rect">
            <a:avLst/>
          </a:prstGeom>
        </p:spPr>
        <p:txBody>
          <a:bodyPr anchor="b"/>
          <a:lstStyle>
            <a:lvl1pPr algn="r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6618515" y="6322834"/>
            <a:ext cx="11088914" cy="30679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-2" y="6958383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40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802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1463675" y="1927449"/>
            <a:ext cx="3965349" cy="39653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  <p:sp>
        <p:nvSpPr>
          <p:cNvPr id="28" name="グラフ プレースホルダー 6"/>
          <p:cNvSpPr>
            <a:spLocks noGrp="1"/>
          </p:cNvSpPr>
          <p:nvPr>
            <p:ph type="chart" sz="quarter" idx="22" hasCustomPrompt="1"/>
          </p:nvPr>
        </p:nvSpPr>
        <p:spPr>
          <a:xfrm>
            <a:off x="7115786" y="192744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  <p:sp>
        <p:nvSpPr>
          <p:cNvPr id="29" name="グラフ プレースホルダー 6"/>
          <p:cNvSpPr>
            <a:spLocks noGrp="1"/>
          </p:cNvSpPr>
          <p:nvPr>
            <p:ph type="chart" sz="quarter" idx="23" hasCustomPrompt="1"/>
          </p:nvPr>
        </p:nvSpPr>
        <p:spPr>
          <a:xfrm>
            <a:off x="12822569" y="192468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067502" y="2862602"/>
            <a:ext cx="8318843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60404" y="3549425"/>
            <a:ext cx="8333821" cy="454184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067502" y="3450878"/>
            <a:ext cx="8318843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796950" y="2862602"/>
            <a:ext cx="8127999" cy="52286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</p:spTree>
    <p:extLst>
      <p:ext uri="{BB962C8B-B14F-4D97-AF65-F5344CB8AC3E}">
        <p14:creationId xmlns:p14="http://schemas.microsoft.com/office/powerpoint/2010/main" val="417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63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7" r:id="rId3"/>
    <p:sldLayoutId id="2147483668" r:id="rId4"/>
    <p:sldLayoutId id="2147483669" r:id="rId5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Char char=""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9721516"/>
            <a:ext cx="18288000" cy="5654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18168" y="9721516"/>
            <a:ext cx="5269832" cy="56548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0" y="0"/>
            <a:ext cx="18288000" cy="1462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1" y="0"/>
            <a:ext cx="388418" cy="146263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3"/>
          </p:nvPr>
        </p:nvSpPr>
        <p:spPr>
          <a:xfrm>
            <a:off x="12115800" y="972151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>
                    <a:lumMod val="9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4"/>
          </p:nvPr>
        </p:nvSpPr>
        <p:spPr>
          <a:xfrm>
            <a:off x="14173200" y="0"/>
            <a:ext cx="4114800" cy="161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0">
                <a:solidFill>
                  <a:schemeClr val="tx1">
                    <a:lumMod val="65000"/>
                    <a:lumOff val="3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5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  <p:sldLayoutId id="2147483676" r:id="rId8"/>
    <p:sldLayoutId id="2147483677" r:id="rId9"/>
    <p:sldLayoutId id="2147483670" r:id="rId10"/>
    <p:sldLayoutId id="2147483674" r:id="rId11"/>
    <p:sldLayoutId id="2147483675" r:id="rId12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000" kern="1200" baseline="0">
          <a:solidFill>
            <a:schemeClr val="bg1">
              <a:lumMod val="95000"/>
            </a:schemeClr>
          </a:solidFill>
          <a:latin typeface="Bebas Neue Bold" panose="020B0606020202050201" pitchFamily="34" charset="0"/>
          <a:ea typeface="A-OTF Shin Go Pro L" panose="020B0300000000000000" pitchFamily="34" charset="-128"/>
          <a:cs typeface="+mj-cs"/>
        </a:defRPr>
      </a:lvl1pPr>
    </p:titleStyle>
    <p:bodyStyle>
      <a:lvl1pPr marL="0" indent="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8636-9983-629C-2A29-58E7E36B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66445D1-2EBA-B73B-4923-C64D0310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18757"/>
            <a:ext cx="5947298" cy="7872989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C38115A8-8CE1-AC6D-15A8-B72756F7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D64949-BF31-4068-82F3-927498FD1A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EA0208F-0EE3-0A4F-E6EA-297A2CF27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43245"/>
              </p:ext>
            </p:extLst>
          </p:nvPr>
        </p:nvGraphicFramePr>
        <p:xfrm>
          <a:off x="5666508" y="2687780"/>
          <a:ext cx="12219708" cy="6367032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036618">
                  <a:extLst>
                    <a:ext uri="{9D8B030D-6E8A-4147-A177-3AD203B41FA5}">
                      <a16:colId xmlns:a16="http://schemas.microsoft.com/office/drawing/2014/main" val="4214793532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666696050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738821851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758651458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4207639453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893831017"/>
                    </a:ext>
                  </a:extLst>
                </a:gridCol>
              </a:tblGrid>
              <a:tr h="15378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繰り返し回数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 </a:t>
                      </a:r>
                      <a:r>
                        <a:rPr lang="ja-JP" altLang="en-US" sz="3200" dirty="0">
                          <a:latin typeface="+mj-lt"/>
                        </a:rPr>
                        <a:t>の値 </a:t>
                      </a:r>
                      <a:r>
                        <a:rPr lang="en-US" altLang="ja-JP" sz="3200" dirty="0">
                          <a:latin typeface="+mj-lt"/>
                        </a:rPr>
                        <a:t>(</a:t>
                      </a:r>
                      <a:r>
                        <a:rPr lang="ja-JP" altLang="en-US" sz="3200" dirty="0">
                          <a:latin typeface="+mj-lt"/>
                        </a:rPr>
                        <a:t>開始時</a:t>
                      </a:r>
                      <a:r>
                        <a:rPr lang="en-US" altLang="ja-JP" sz="3200" dirty="0">
                          <a:latin typeface="+mj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b </a:t>
                      </a:r>
                      <a:r>
                        <a:rPr lang="ja-JP" altLang="en-US" sz="3200" dirty="0">
                          <a:latin typeface="+mj-lt"/>
                        </a:rPr>
                        <a:t>の値 </a:t>
                      </a:r>
                      <a:r>
                        <a:rPr lang="en-US" altLang="ja-JP" sz="3200" dirty="0">
                          <a:latin typeface="+mj-lt"/>
                        </a:rPr>
                        <a:t>(</a:t>
                      </a:r>
                      <a:r>
                        <a:rPr lang="ja-JP" altLang="en-US" sz="3200" dirty="0">
                          <a:latin typeface="+mj-lt"/>
                        </a:rPr>
                        <a:t>開始時</a:t>
                      </a:r>
                      <a:r>
                        <a:rPr lang="en-US" altLang="ja-JP" sz="3200" dirty="0">
                          <a:latin typeface="+mj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出力</a:t>
                      </a:r>
                      <a:endParaRPr lang="en-US" altLang="ja-JP" sz="3200" dirty="0">
                        <a:latin typeface="+mj-lt"/>
                      </a:endParaRPr>
                    </a:p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される値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 -= 2 </a:t>
                      </a:r>
                      <a:r>
                        <a:rPr lang="ja-JP" altLang="en-US" sz="3200" dirty="0">
                          <a:latin typeface="+mj-lt"/>
                        </a:rPr>
                        <a:t>後の </a:t>
                      </a:r>
                      <a:r>
                        <a:rPr lang="en-US" sz="3200" dirty="0"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b -= a </a:t>
                      </a:r>
                      <a:r>
                        <a:rPr lang="ja-JP" altLang="en-US" sz="3200" dirty="0">
                          <a:latin typeface="+mj-lt"/>
                        </a:rPr>
                        <a:t>後の </a:t>
                      </a:r>
                      <a:r>
                        <a:rPr lang="en-US" sz="3200" dirty="0"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53462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1</a:t>
                      </a:r>
                      <a:r>
                        <a:rPr lang="ja-JP" altLang="en-US" sz="3200" dirty="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5063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2</a:t>
                      </a:r>
                      <a:r>
                        <a:rPr lang="ja-JP" altLang="en-US" sz="3200" dirty="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35756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3</a:t>
                      </a:r>
                      <a:r>
                        <a:rPr lang="ja-JP" altLang="en-US" sz="320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968104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  <a:r>
                        <a:rPr lang="ja-JP" altLang="en-US" sz="320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967275"/>
                  </a:ext>
                </a:extLst>
              </a:tr>
            </a:tbl>
          </a:graphicData>
        </a:graphic>
      </p:graphicFrame>
      <p:sp>
        <p:nvSpPr>
          <p:cNvPr id="6" name="楕円 5">
            <a:extLst>
              <a:ext uri="{FF2B5EF4-FFF2-40B4-BE49-F238E27FC236}">
                <a16:creationId xmlns:a16="http://schemas.microsoft.com/office/drawing/2014/main" id="{BBCF2A77-9C27-A6BD-4159-0F2B510D6093}"/>
              </a:ext>
            </a:extLst>
          </p:cNvPr>
          <p:cNvSpPr/>
          <p:nvPr/>
        </p:nvSpPr>
        <p:spPr>
          <a:xfrm>
            <a:off x="984828" y="503196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92665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C890-6162-2BE5-0539-B686A4D5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D7315C2E-4AA4-6D20-07A0-65F66F26F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58" y="1504570"/>
            <a:ext cx="5413524" cy="816498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E94F6A3B-628F-BA70-295E-DE3B5391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9BA9BA-E0D1-B16E-1698-04AC77480A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E376183-CB00-0B65-05AB-F62C49312259}"/>
              </a:ext>
            </a:extLst>
          </p:cNvPr>
          <p:cNvSpPr/>
          <p:nvPr/>
        </p:nvSpPr>
        <p:spPr>
          <a:xfrm>
            <a:off x="929409" y="619574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C17DF36-E224-03C5-2BB9-2703D75E3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816063"/>
              </p:ext>
            </p:extLst>
          </p:nvPr>
        </p:nvGraphicFramePr>
        <p:xfrm>
          <a:off x="4321292" y="2458896"/>
          <a:ext cx="13731181" cy="710362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026563">
                  <a:extLst>
                    <a:ext uri="{9D8B030D-6E8A-4147-A177-3AD203B41FA5}">
                      <a16:colId xmlns:a16="http://schemas.microsoft.com/office/drawing/2014/main" val="630768620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3833500087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2449989043"/>
                    </a:ext>
                  </a:extLst>
                </a:gridCol>
                <a:gridCol w="4987636">
                  <a:extLst>
                    <a:ext uri="{9D8B030D-6E8A-4147-A177-3AD203B41FA5}">
                      <a16:colId xmlns:a16="http://schemas.microsoft.com/office/drawing/2014/main" val="1914797381"/>
                    </a:ext>
                  </a:extLst>
                </a:gridCol>
                <a:gridCol w="4613564">
                  <a:extLst>
                    <a:ext uri="{9D8B030D-6E8A-4147-A177-3AD203B41FA5}">
                      <a16:colId xmlns:a16="http://schemas.microsoft.com/office/drawing/2014/main" val="1535945393"/>
                    </a:ext>
                  </a:extLst>
                </a:gridCol>
              </a:tblGrid>
              <a:tr h="1018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ループ</a:t>
                      </a:r>
                      <a:endParaRPr lang="en-US" altLang="ja-JP" sz="2300" dirty="0"/>
                    </a:p>
                    <a:p>
                      <a:pPr algn="ctr">
                        <a:buNone/>
                      </a:pPr>
                      <a:r>
                        <a:rPr lang="ja-JP" altLang="en-US" sz="2300" dirty="0"/>
                        <a:t>回数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/>
                        <a:t>f </a:t>
                      </a:r>
                      <a:r>
                        <a:rPr lang="ja-JP" altLang="en-US" sz="2300"/>
                        <a:t>の値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判定 </a:t>
                      </a:r>
                      <a:endParaRPr lang="en-US" altLang="ja-JP" sz="2300" dirty="0"/>
                    </a:p>
                    <a:p>
                      <a:pPr algn="ctr">
                        <a:buNone/>
                      </a:pPr>
                      <a:r>
                        <a:rPr lang="en-US" altLang="ja-JP" sz="2300" dirty="0"/>
                        <a:t>(</a:t>
                      </a:r>
                      <a:r>
                        <a:rPr lang="en-US" sz="2300" dirty="0" err="1"/>
                        <a:t>len</a:t>
                      </a:r>
                      <a:r>
                        <a:rPr lang="en-US" sz="2300" dirty="0"/>
                        <a:t>(f)&lt;5)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実行内容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ループ後の </a:t>
                      </a:r>
                      <a:r>
                        <a:rPr lang="en-US" sz="2300" dirty="0"/>
                        <a:t>fruits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48431"/>
                  </a:ext>
                </a:extLst>
              </a:tr>
              <a:tr h="811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1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'apple'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5</a:t>
                      </a:r>
                      <a:r>
                        <a:rPr lang="ja-JP" altLang="en-US" sz="2300" dirty="0"/>
                        <a:t>文字 → ✖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/>
                        <a:t>何もしない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['apple', 'kiwi', 'plum']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15742"/>
                  </a:ext>
                </a:extLst>
              </a:tr>
              <a:tr h="2636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2</a:t>
                      </a:r>
                      <a:endParaRPr lang="ja-JP" altLang="en-US" sz="2300" b="1" dirty="0"/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'kiwi'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4</a:t>
                      </a:r>
                      <a:r>
                        <a:rPr lang="ja-JP" altLang="en-US" sz="2300" dirty="0"/>
                        <a:t>文字 → ○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 dirty="0"/>
                        <a:t>先頭に </a:t>
                      </a:r>
                      <a:r>
                        <a:rPr lang="en-US" altLang="ja-JP" sz="2300" dirty="0"/>
                        <a:t>'</a:t>
                      </a:r>
                      <a:r>
                        <a:rPr lang="en-US" sz="2300" dirty="0"/>
                        <a:t>kiwi' </a:t>
                      </a:r>
                      <a:r>
                        <a:rPr lang="ja-JP" altLang="en-US" sz="2300" dirty="0"/>
                        <a:t>を追加 →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kiwi','apple','kiwi','plum</a:t>
                      </a:r>
                      <a:r>
                        <a:rPr lang="en-US" sz="2300" dirty="0"/>
                        <a:t>’]</a:t>
                      </a:r>
                    </a:p>
                    <a:p>
                      <a:pPr>
                        <a:buNone/>
                      </a:pP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末尾を削除 →</a:t>
                      </a: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kiwi','apple','kiwi</a:t>
                      </a:r>
                      <a:r>
                        <a:rPr lang="en-US" sz="2300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['kiwi', 'apple', 'kiwi']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36016"/>
                  </a:ext>
                </a:extLst>
              </a:tr>
              <a:tr h="2636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3</a:t>
                      </a:r>
                      <a:endParaRPr lang="ja-JP" altLang="en-US" sz="2300" b="1" dirty="0"/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'plum'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4</a:t>
                      </a:r>
                      <a:r>
                        <a:rPr lang="ja-JP" altLang="en-US" sz="2300" dirty="0"/>
                        <a:t>文字 → ○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 dirty="0"/>
                        <a:t>先頭に </a:t>
                      </a:r>
                      <a:r>
                        <a:rPr lang="en-US" altLang="ja-JP" sz="2300" dirty="0"/>
                        <a:t>'</a:t>
                      </a:r>
                      <a:r>
                        <a:rPr lang="en-US" sz="2300" dirty="0"/>
                        <a:t>plum' </a:t>
                      </a:r>
                      <a:r>
                        <a:rPr lang="ja-JP" altLang="en-US" sz="2300" dirty="0"/>
                        <a:t>を追加 →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plum','kiwi','apple','kiwi</a:t>
                      </a:r>
                      <a:r>
                        <a:rPr lang="en-US" sz="2300" dirty="0"/>
                        <a:t>’]</a:t>
                      </a:r>
                    </a:p>
                    <a:p>
                      <a:pPr>
                        <a:buNone/>
                      </a:pP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末尾を削除 →</a:t>
                      </a: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plum','kiwi','apple</a:t>
                      </a:r>
                      <a:r>
                        <a:rPr lang="en-US" sz="2300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['</a:t>
                      </a:r>
                      <a:r>
                        <a:rPr lang="en-US" sz="2400" b="1" dirty="0" err="1"/>
                        <a:t>plum','kiwi','apple</a:t>
                      </a:r>
                      <a:r>
                        <a:rPr lang="en-US" sz="2400" b="1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44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50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06D5-3822-146E-6792-82C7A569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0094D2C-6994-D306-B7A7-F7A61D0C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6E3B6470-B129-66BE-BEC4-38DCFAB7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BDFD81-B333-1AD6-1E4F-9C6732C12F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9477878-400A-E8A2-7A7B-2026933E7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235" y="3846887"/>
            <a:ext cx="5113129" cy="5608729"/>
          </a:xfrm>
          <a:prstGeom prst="rect">
            <a:avLst/>
          </a:prstGeom>
          <a:ln w="57150">
            <a:solidFill>
              <a:srgbClr val="0066FF"/>
            </a:solidFill>
          </a:ln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69A0DC8D-189C-1678-2DAE-F8B0611CB057}"/>
              </a:ext>
            </a:extLst>
          </p:cNvPr>
          <p:cNvSpPr/>
          <p:nvPr/>
        </p:nvSpPr>
        <p:spPr>
          <a:xfrm>
            <a:off x="9976426" y="4283821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76582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692B-E300-2099-FD20-9D3D24DE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34A6712-9625-09E8-C3F4-A8ACBE28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B162A69F-3A0E-7C3E-E06C-E8A509E2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7153BC3-CCE7-DF4F-A296-0C40B3C85D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37ABD8-FA79-484B-9354-04000DCB60BB}"/>
              </a:ext>
            </a:extLst>
          </p:cNvPr>
          <p:cNvSpPr txBox="1"/>
          <p:nvPr/>
        </p:nvSpPr>
        <p:spPr>
          <a:xfrm>
            <a:off x="6968836" y="309024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コードの目的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790DB9-9496-A2EA-21D4-4A29B67AB258}"/>
              </a:ext>
            </a:extLst>
          </p:cNvPr>
          <p:cNvSpPr txBox="1"/>
          <p:nvPr/>
        </p:nvSpPr>
        <p:spPr>
          <a:xfrm>
            <a:off x="7023378" y="3919482"/>
            <a:ext cx="9533379" cy="258532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～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6 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の数字を順番に調べて、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奇数なら「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Found an odd number: X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」と表示する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偶数なら「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Found an even number: X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」と表示する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つまり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奇数のときは偶数の出力をスキップしたい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という目的</a:t>
            </a:r>
          </a:p>
        </p:txBody>
      </p:sp>
    </p:spTree>
    <p:extLst>
      <p:ext uri="{BB962C8B-B14F-4D97-AF65-F5344CB8AC3E}">
        <p14:creationId xmlns:p14="http://schemas.microsoft.com/office/powerpoint/2010/main" val="265217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57EA-8BD5-76D4-C8D5-0462BA4A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617D767-84D8-1910-BB36-DFF67BBE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948BCD5-F0B7-B048-D5CC-8ED046F1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6DFD33-2924-6F13-9445-C888C1576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093F71-8E5C-165B-CD51-B9ED24B06E66}"/>
              </a:ext>
            </a:extLst>
          </p:cNvPr>
          <p:cNvSpPr txBox="1"/>
          <p:nvPr/>
        </p:nvSpPr>
        <p:spPr>
          <a:xfrm>
            <a:off x="7980218" y="3231554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どうしたらよいのか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B4913C-87E2-DF01-122F-C64393872CB7}"/>
              </a:ext>
            </a:extLst>
          </p:cNvPr>
          <p:cNvSpPr txBox="1"/>
          <p:nvPr/>
        </p:nvSpPr>
        <p:spPr>
          <a:xfrm>
            <a:off x="8090178" y="3919482"/>
            <a:ext cx="9408113" cy="258532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の部分が偶数・奇数どちらでも実行される</a:t>
            </a:r>
            <a:endParaRPr kumimoji="1" lang="en-US" altLang="ja-JP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奇数ならその処理を飛ばす必要がある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それ以降の処理をスキップして次のループに進む」には 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continue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を使用する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A275B5-09EB-04B2-DCB1-FA7D4B6805B1}"/>
              </a:ext>
            </a:extLst>
          </p:cNvPr>
          <p:cNvSpPr/>
          <p:nvPr/>
        </p:nvSpPr>
        <p:spPr>
          <a:xfrm>
            <a:off x="983673" y="8340436"/>
            <a:ext cx="5084618" cy="443346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3C9331-8B85-EBF7-6063-96A54B8A4234}"/>
              </a:ext>
            </a:extLst>
          </p:cNvPr>
          <p:cNvSpPr/>
          <p:nvPr/>
        </p:nvSpPr>
        <p:spPr>
          <a:xfrm>
            <a:off x="8275890" y="4002675"/>
            <a:ext cx="530865" cy="333093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48512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C177-1804-0FE2-3207-20111FC6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69DA971A-FF77-5A50-5E26-7B2C7FA9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98812"/>
            <a:ext cx="13096243" cy="8043362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7B3C5ED-0323-8CF2-1476-585ABCC9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5B2CC8-3445-EEDD-90D1-A904448A5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D9CC18-C93F-B31D-CC9E-53AA86BB127E}"/>
              </a:ext>
            </a:extLst>
          </p:cNvPr>
          <p:cNvSpPr txBox="1"/>
          <p:nvPr/>
        </p:nvSpPr>
        <p:spPr>
          <a:xfrm>
            <a:off x="3879273" y="5929743"/>
            <a:ext cx="85090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つの変数 </a:t>
            </a:r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i,v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に分けて受け取ることはできません。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D59C6E-17E0-D24B-0D59-CD5548BE7EC7}"/>
              </a:ext>
            </a:extLst>
          </p:cNvPr>
          <p:cNvSpPr txBox="1"/>
          <p:nvPr/>
        </p:nvSpPr>
        <p:spPr>
          <a:xfrm>
            <a:off x="3879273" y="6678056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A5A6F8-ED98-1272-4BD5-A98CD9109061}"/>
              </a:ext>
            </a:extLst>
          </p:cNvPr>
          <p:cNvSpPr txBox="1"/>
          <p:nvPr/>
        </p:nvSpPr>
        <p:spPr>
          <a:xfrm>
            <a:off x="3879273" y="7454079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BB2006-DD83-F171-AE4E-01D0E5447894}"/>
              </a:ext>
            </a:extLst>
          </p:cNvPr>
          <p:cNvSpPr txBox="1"/>
          <p:nvPr/>
        </p:nvSpPr>
        <p:spPr>
          <a:xfrm>
            <a:off x="3879273" y="8216247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FCF1A72-DE1C-F9AB-E814-314257CDFE29}"/>
              </a:ext>
            </a:extLst>
          </p:cNvPr>
          <p:cNvSpPr/>
          <p:nvPr/>
        </p:nvSpPr>
        <p:spPr>
          <a:xfrm>
            <a:off x="680027" y="904453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190389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39B2-3CA3-D64C-D538-44E6BA51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CA8E2540-FD4E-D52F-777A-4302BE7BE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98812"/>
            <a:ext cx="13096243" cy="8043362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9986619A-C580-27F8-D667-2D8D2186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343F94-F6BB-19F8-C4A3-61850221B3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29DF88-9BBA-0FD2-2ED2-A36B9901ADAD}"/>
              </a:ext>
            </a:extLst>
          </p:cNvPr>
          <p:cNvSpPr txBox="1"/>
          <p:nvPr/>
        </p:nvSpPr>
        <p:spPr>
          <a:xfrm>
            <a:off x="3879273" y="5929743"/>
            <a:ext cx="85090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つの変数 </a:t>
            </a:r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i,v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に分けて受け取ることはできません。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F460B74-181F-07D0-7768-F3D9C93E83DE}"/>
              </a:ext>
            </a:extLst>
          </p:cNvPr>
          <p:cNvSpPr txBox="1"/>
          <p:nvPr/>
        </p:nvSpPr>
        <p:spPr>
          <a:xfrm>
            <a:off x="3879273" y="6678056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4C60603-7577-EC74-FE6E-75C7D594DD32}"/>
              </a:ext>
            </a:extLst>
          </p:cNvPr>
          <p:cNvSpPr txBox="1"/>
          <p:nvPr/>
        </p:nvSpPr>
        <p:spPr>
          <a:xfrm>
            <a:off x="3879273" y="7454079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6C55892-A5FF-9030-4BA0-AB488F24404D}"/>
              </a:ext>
            </a:extLst>
          </p:cNvPr>
          <p:cNvSpPr txBox="1"/>
          <p:nvPr/>
        </p:nvSpPr>
        <p:spPr>
          <a:xfrm>
            <a:off x="3879273" y="8216247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9A3B189-BA5B-CE73-EA24-11D2C6F8DEEA}"/>
              </a:ext>
            </a:extLst>
          </p:cNvPr>
          <p:cNvSpPr/>
          <p:nvPr/>
        </p:nvSpPr>
        <p:spPr>
          <a:xfrm>
            <a:off x="680027" y="904453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67872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A85-16E0-6662-31FB-7444660C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CEBC2BC-423B-8357-98EE-037BBE32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36" y="1811913"/>
            <a:ext cx="10837439" cy="7553760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2BED85B-291D-30A3-862A-63E8480E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13.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関数のスコープ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5B58FB-37EF-5B4F-AAE2-E643165D56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17B1FA1-BFD6-05D8-D259-47741A63BA6D}"/>
              </a:ext>
            </a:extLst>
          </p:cNvPr>
          <p:cNvSpPr/>
          <p:nvPr/>
        </p:nvSpPr>
        <p:spPr>
          <a:xfrm>
            <a:off x="2026954" y="3840090"/>
            <a:ext cx="229566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D64FF4-3407-18C3-5000-F7BCB5045079}"/>
              </a:ext>
            </a:extLst>
          </p:cNvPr>
          <p:cNvSpPr txBox="1"/>
          <p:nvPr/>
        </p:nvSpPr>
        <p:spPr>
          <a:xfrm>
            <a:off x="4476206" y="3744310"/>
            <a:ext cx="27029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変数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を代入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7251AA0-4948-B733-D45B-F50627ACAAA7}"/>
              </a:ext>
            </a:extLst>
          </p:cNvPr>
          <p:cNvSpPr/>
          <p:nvPr/>
        </p:nvSpPr>
        <p:spPr>
          <a:xfrm>
            <a:off x="2026954" y="4437955"/>
            <a:ext cx="229566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8EE890-6082-548F-8E6B-E36B9E15F2A6}"/>
              </a:ext>
            </a:extLst>
          </p:cNvPr>
          <p:cNvSpPr txBox="1"/>
          <p:nvPr/>
        </p:nvSpPr>
        <p:spPr>
          <a:xfrm>
            <a:off x="4476206" y="4342175"/>
            <a:ext cx="27029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変数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に更新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93CB7B63-9740-B36A-B597-E7BB209AB702}"/>
              </a:ext>
            </a:extLst>
          </p:cNvPr>
          <p:cNvSpPr/>
          <p:nvPr/>
        </p:nvSpPr>
        <p:spPr>
          <a:xfrm>
            <a:off x="1619634" y="8787204"/>
            <a:ext cx="270298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D13E62F-4202-7A0D-E9A7-F2CD4DDDAD4E}"/>
              </a:ext>
            </a:extLst>
          </p:cNvPr>
          <p:cNvSpPr txBox="1"/>
          <p:nvPr/>
        </p:nvSpPr>
        <p:spPr>
          <a:xfrm>
            <a:off x="4476206" y="8691424"/>
            <a:ext cx="49151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引数として 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を渡して呼び出し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84CDE4A-9205-9E1A-0656-7EE017AA0209}"/>
              </a:ext>
            </a:extLst>
          </p:cNvPr>
          <p:cNvSpPr/>
          <p:nvPr/>
        </p:nvSpPr>
        <p:spPr>
          <a:xfrm>
            <a:off x="1943824" y="5680363"/>
            <a:ext cx="1284282" cy="4294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35D2BB7E-44B2-614C-8A63-8E7BC8E9FDF1}"/>
              </a:ext>
            </a:extLst>
          </p:cNvPr>
          <p:cNvSpPr/>
          <p:nvPr/>
        </p:nvSpPr>
        <p:spPr>
          <a:xfrm>
            <a:off x="3435926" y="5736972"/>
            <a:ext cx="886691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B221BB2-C3B1-3E68-CD13-B8D14C44DAA0}"/>
              </a:ext>
            </a:extLst>
          </p:cNvPr>
          <p:cNvSpPr txBox="1"/>
          <p:nvPr/>
        </p:nvSpPr>
        <p:spPr>
          <a:xfrm>
            <a:off x="4476206" y="5641192"/>
            <a:ext cx="31470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デフォルト引数は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26DEFE7-33DC-E492-84D2-CA7984567D56}"/>
              </a:ext>
            </a:extLst>
          </p:cNvPr>
          <p:cNvSpPr/>
          <p:nvPr/>
        </p:nvSpPr>
        <p:spPr>
          <a:xfrm>
            <a:off x="9942025" y="2848260"/>
            <a:ext cx="7823200" cy="3165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デフォルト値は</a:t>
            </a:r>
            <a:r>
              <a:rPr kumimoji="1" lang="ja-JP" altLang="en-US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引数が省略されたときにだけ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使われます。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今回の呼び出しは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f(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であり、引数として 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（グローバル変数の値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）を渡しています。</a:t>
            </a: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そのため、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arg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にはデフォルト値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ではなく、渡された値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が入ります。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87BFDBA-1292-D071-C95F-DFEAFA691674}"/>
              </a:ext>
            </a:extLst>
          </p:cNvPr>
          <p:cNvSpPr/>
          <p:nvPr/>
        </p:nvSpPr>
        <p:spPr>
          <a:xfrm>
            <a:off x="9942025" y="2160199"/>
            <a:ext cx="5549812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なぜデフォルト引数の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ではないのか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1BC7E11-1BE9-67D3-BDC8-9FB44DA7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6636117"/>
            <a:ext cx="4872518" cy="1732028"/>
          </a:xfrm>
          <a:prstGeom prst="rect">
            <a:avLst/>
          </a:prstGeom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7A9C8407-ECE9-9937-DB8B-E311505A495A}"/>
              </a:ext>
            </a:extLst>
          </p:cNvPr>
          <p:cNvSpPr/>
          <p:nvPr/>
        </p:nvSpPr>
        <p:spPr>
          <a:xfrm>
            <a:off x="10004134" y="736978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83136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6" grpId="0" animBg="1"/>
      <p:bldP spid="19" grpId="0"/>
      <p:bldP spid="29" grpId="0" animBg="1"/>
      <p:bldP spid="30" grpId="0" animBg="1"/>
      <p:bldP spid="31" grpId="0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98AB-FCE3-294E-4FC7-1168F37A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1BA07394-0BA7-5A12-8F99-969439C3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4" y="1630830"/>
            <a:ext cx="6993481" cy="7914952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D13ED4C-82F6-7D3E-ECCB-CFFF3360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16.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E1370D-7EBF-0418-D4DE-3DF3020311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23F169-B62A-3DFB-4F67-6E0F3032F263}"/>
              </a:ext>
            </a:extLst>
          </p:cNvPr>
          <p:cNvSpPr txBox="1"/>
          <p:nvPr/>
        </p:nvSpPr>
        <p:spPr>
          <a:xfrm>
            <a:off x="7734157" y="2773724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コードの目的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C5A6AB-8474-CA34-8092-EEAA1A707C92}"/>
              </a:ext>
            </a:extLst>
          </p:cNvPr>
          <p:cNvSpPr txBox="1"/>
          <p:nvPr/>
        </p:nvSpPr>
        <p:spPr>
          <a:xfrm>
            <a:off x="7788699" y="3397894"/>
            <a:ext cx="10037895" cy="1265667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第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要素（数値の部分）ではなく、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第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要素（文字の部分）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でソート したい、というのが目的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7B7A7A-5397-EDA9-964C-4F5239578485}"/>
              </a:ext>
            </a:extLst>
          </p:cNvPr>
          <p:cNvSpPr txBox="1"/>
          <p:nvPr/>
        </p:nvSpPr>
        <p:spPr>
          <a:xfrm>
            <a:off x="6948063" y="5334390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タプルの最初の要素（数値）でソートしている。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A4ED80-FDDD-B180-347A-88A746C08E91}"/>
              </a:ext>
            </a:extLst>
          </p:cNvPr>
          <p:cNvSpPr txBox="1"/>
          <p:nvPr/>
        </p:nvSpPr>
        <p:spPr>
          <a:xfrm>
            <a:off x="6948063" y="6226858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lambda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の書き方が間違っている。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D64742B-5F04-AC57-0188-3C961546ED4D}"/>
              </a:ext>
            </a:extLst>
          </p:cNvPr>
          <p:cNvSpPr txBox="1"/>
          <p:nvPr/>
        </p:nvSpPr>
        <p:spPr>
          <a:xfrm>
            <a:off x="6948063" y="7091616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lambda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の書き方が間違っている。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9949DE-24B1-3B84-3CB9-7D5F5F1839C3}"/>
              </a:ext>
            </a:extLst>
          </p:cNvPr>
          <p:cNvSpPr txBox="1"/>
          <p:nvPr/>
        </p:nvSpPr>
        <p:spPr>
          <a:xfrm>
            <a:off x="6948063" y="8808495"/>
            <a:ext cx="11315918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タプル全体を比較対象にしてしまっている。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第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要素でソートされる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947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9713-4B51-673A-ADD1-F6039793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04F7561-CEA8-AB4B-9C67-8FCDC4DF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4" y="1753764"/>
            <a:ext cx="16140259" cy="7771236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6C6347A2-B7B5-4AED-4EAA-BC5F6D19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18.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リスト操作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9774BB6-68D7-14AC-339E-FE89D74BA7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BBB702B-9D35-BA10-98A2-F6AACE328C5D}"/>
              </a:ext>
            </a:extLst>
          </p:cNvPr>
          <p:cNvSpPr/>
          <p:nvPr/>
        </p:nvSpPr>
        <p:spPr>
          <a:xfrm>
            <a:off x="880919" y="59160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44D0834-7626-E2B4-3750-634A439AEE78}"/>
              </a:ext>
            </a:extLst>
          </p:cNvPr>
          <p:cNvCxnSpPr/>
          <p:nvPr/>
        </p:nvCxnSpPr>
        <p:spPr>
          <a:xfrm>
            <a:off x="2197100" y="3263900"/>
            <a:ext cx="355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CBD095-1097-8274-940B-6B1B4475F26D}"/>
              </a:ext>
            </a:extLst>
          </p:cNvPr>
          <p:cNvSpPr txBox="1"/>
          <p:nvPr/>
        </p:nvSpPr>
        <p:spPr>
          <a:xfrm>
            <a:off x="5842000" y="3033067"/>
            <a:ext cx="2432076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3, 4, </a:t>
            </a:r>
            <a:r>
              <a:rPr kumimoji="1" lang="en-US" altLang="ja-JP" sz="2400" b="1" dirty="0">
                <a:solidFill>
                  <a:srgbClr val="FF0000"/>
                </a:solidFill>
                <a:latin typeface="+mn-ea"/>
              </a:rPr>
              <a:t>-1</a:t>
            </a:r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, 6,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1B843CB-36FA-93C0-2CD9-6A6C42E9C1AD}"/>
              </a:ext>
            </a:extLst>
          </p:cNvPr>
          <p:cNvCxnSpPr>
            <a:cxnSpLocks/>
          </p:cNvCxnSpPr>
          <p:nvPr/>
        </p:nvCxnSpPr>
        <p:spPr>
          <a:xfrm>
            <a:off x="1625600" y="3708400"/>
            <a:ext cx="4127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03118D-FC28-AB9F-5436-DE8C5A1FB7B5}"/>
              </a:ext>
            </a:extLst>
          </p:cNvPr>
          <p:cNvSpPr txBox="1"/>
          <p:nvPr/>
        </p:nvSpPr>
        <p:spPr>
          <a:xfrm>
            <a:off x="5842000" y="3617762"/>
            <a:ext cx="240642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3, 4, -1,    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033B13C-1BC8-33B2-0F65-B5B0CF8DB791}"/>
              </a:ext>
            </a:extLst>
          </p:cNvPr>
          <p:cNvCxnSpPr>
            <a:cxnSpLocks/>
          </p:cNvCxnSpPr>
          <p:nvPr/>
        </p:nvCxnSpPr>
        <p:spPr>
          <a:xfrm>
            <a:off x="1917700" y="4079427"/>
            <a:ext cx="11049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7390A8E-53D4-F16F-9F0A-E3D69CC2A4A0}"/>
              </a:ext>
            </a:extLst>
          </p:cNvPr>
          <p:cNvSpPr txBox="1"/>
          <p:nvPr/>
        </p:nvSpPr>
        <p:spPr>
          <a:xfrm>
            <a:off x="3111500" y="3882231"/>
            <a:ext cx="2173993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    4, -1,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BB93B5-C5D5-E468-3DD1-44DD869E1A3D}"/>
              </a:ext>
            </a:extLst>
          </p:cNvPr>
          <p:cNvSpPr/>
          <p:nvPr/>
        </p:nvSpPr>
        <p:spPr>
          <a:xfrm>
            <a:off x="9942025" y="3201134"/>
            <a:ext cx="7823200" cy="3165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remove()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は、</a:t>
            </a:r>
            <a:r>
              <a:rPr kumimoji="1" lang="ja-JP" altLang="en-US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指定した値を持つ最初の要素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を削除します。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現在のリスト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[1, 3, 4, -1, 3, 5]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このリストには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つありますが、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は最初の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（インデックス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の位置にある）のみを削除します。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CA0DD6C-B4D1-F28B-F840-41843D351838}"/>
              </a:ext>
            </a:extLst>
          </p:cNvPr>
          <p:cNvSpPr/>
          <p:nvPr/>
        </p:nvSpPr>
        <p:spPr>
          <a:xfrm>
            <a:off x="9942025" y="2520418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メソッド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2A170C-CA2B-2F9B-3212-DCC3ABF4E8AB}"/>
              </a:ext>
            </a:extLst>
          </p:cNvPr>
          <p:cNvSpPr/>
          <p:nvPr/>
        </p:nvSpPr>
        <p:spPr>
          <a:xfrm>
            <a:off x="7296237" y="3687165"/>
            <a:ext cx="205213" cy="3372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7F99100-DC8C-4CF9-B5B1-5D109C4870FE}"/>
              </a:ext>
            </a:extLst>
          </p:cNvPr>
          <p:cNvSpPr/>
          <p:nvPr/>
        </p:nvSpPr>
        <p:spPr>
          <a:xfrm>
            <a:off x="3583371" y="3956998"/>
            <a:ext cx="186557" cy="3372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271942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7E79-211D-32E7-9D9A-262EC32F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B0D7B77A-138A-14E9-ECB0-AF595DCA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19.map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関数と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lambda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式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3BA3A2-16B3-02B7-E39B-8007C5995C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7F91208-FDF4-6CF3-A02C-69D997577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00538"/>
            <a:ext cx="11431595" cy="7744906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1C1A012D-A6A8-6A84-FC31-DD3827BFDDD2}"/>
              </a:ext>
            </a:extLst>
          </p:cNvPr>
          <p:cNvSpPr/>
          <p:nvPr/>
        </p:nvSpPr>
        <p:spPr>
          <a:xfrm>
            <a:off x="817419" y="8697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2C8310F-3524-3E00-FE6A-41C401EADBB6}"/>
              </a:ext>
            </a:extLst>
          </p:cNvPr>
          <p:cNvSpPr/>
          <p:nvPr/>
        </p:nvSpPr>
        <p:spPr>
          <a:xfrm>
            <a:off x="9942025" y="1116361"/>
            <a:ext cx="7823200" cy="21621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とは</a:t>
            </a:r>
            <a:r>
              <a:rPr lang="ja-JP" altLang="en-US" sz="2400" b="1" dirty="0">
                <a:solidFill>
                  <a:srgbClr val="FF0000"/>
                </a:solidFill>
              </a:rPr>
              <a:t>リストなどの要素に、同じ処理を順番に適用する」ための関数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処理する関数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データ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D7B379-207D-B045-692F-E31B80959762}"/>
              </a:ext>
            </a:extLst>
          </p:cNvPr>
          <p:cNvSpPr/>
          <p:nvPr/>
        </p:nvSpPr>
        <p:spPr>
          <a:xfrm>
            <a:off x="9942025" y="428300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関数とは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FE79D3-007D-DF6E-3807-6D40EF2C7B0F}"/>
              </a:ext>
            </a:extLst>
          </p:cNvPr>
          <p:cNvSpPr txBox="1"/>
          <p:nvPr/>
        </p:nvSpPr>
        <p:spPr>
          <a:xfrm>
            <a:off x="2812472" y="8655737"/>
            <a:ext cx="3996607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→ 出力は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[0, 1, 8, 27, 64]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697850-8ED4-184C-6D7A-BE08C6D634B8}"/>
              </a:ext>
            </a:extLst>
          </p:cNvPr>
          <p:cNvSpPr/>
          <p:nvPr/>
        </p:nvSpPr>
        <p:spPr>
          <a:xfrm>
            <a:off x="9942025" y="4810681"/>
            <a:ext cx="7823200" cy="4634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range(5) → [0, 1, 2, 3, 4]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を生成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lambda a: a ** 3 →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「数字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乗する」関数を作成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map(lambda a: a ** 3, range(5))</a:t>
            </a:r>
          </a:p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0 → 0**3 = 0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→ 1**3 = 1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→ 2**3 = 8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 → 3**3 = 27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4 → 4**3 = 64</a:t>
            </a:r>
          </a:p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list(...)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でリストに変換 →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[0, 1, 8, 27, 64]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83DACD-D2C5-C537-26F7-54948AC79ED6}"/>
              </a:ext>
            </a:extLst>
          </p:cNvPr>
          <p:cNvSpPr/>
          <p:nvPr/>
        </p:nvSpPr>
        <p:spPr>
          <a:xfrm>
            <a:off x="9942025" y="4122620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コードでの動き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D3B2C30-718B-7448-BEEA-EA878AAE7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2" y="4791655"/>
            <a:ext cx="7259063" cy="34294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4A5BBC-5FEE-3F88-FA82-100C385377AF}"/>
              </a:ext>
            </a:extLst>
          </p:cNvPr>
          <p:cNvSpPr/>
          <p:nvPr/>
        </p:nvSpPr>
        <p:spPr>
          <a:xfrm>
            <a:off x="160746" y="4791655"/>
            <a:ext cx="718597" cy="3429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/>
              <a:t>正解</a:t>
            </a:r>
          </a:p>
        </p:txBody>
      </p:sp>
    </p:spTree>
    <p:extLst>
      <p:ext uri="{BB962C8B-B14F-4D97-AF65-F5344CB8AC3E}">
        <p14:creationId xmlns:p14="http://schemas.microsoft.com/office/powerpoint/2010/main" val="201609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75FF-66CE-071A-BE7B-49113CB0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2FA840EC-4BFB-0739-7550-DD3D8EA3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19.map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関数と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lambda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式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FE800C-47C4-2AB4-61C0-39AD318B18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DC45795-58EE-440E-5998-719AC01B8C7D}"/>
              </a:ext>
            </a:extLst>
          </p:cNvPr>
          <p:cNvSpPr/>
          <p:nvPr/>
        </p:nvSpPr>
        <p:spPr>
          <a:xfrm>
            <a:off x="522775" y="2493299"/>
            <a:ext cx="17141770" cy="16293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cubes = list(map(lambda a: a ** 3, range(5)))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print(cubes) 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[0, 1, 8, 27, 64]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CAFB4A-2317-D287-2FAC-E668683339FE}"/>
              </a:ext>
            </a:extLst>
          </p:cNvPr>
          <p:cNvSpPr/>
          <p:nvPr/>
        </p:nvSpPr>
        <p:spPr>
          <a:xfrm>
            <a:off x="522775" y="1805238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関数を使用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972A2CD-AB08-DFB4-B255-AEAFC2FAB6A2}"/>
              </a:ext>
            </a:extLst>
          </p:cNvPr>
          <p:cNvSpPr/>
          <p:nvPr/>
        </p:nvSpPr>
        <p:spPr>
          <a:xfrm>
            <a:off x="522775" y="5603442"/>
            <a:ext cx="17141770" cy="3841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cubes = []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 a in range(5):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   </a:t>
            </a:r>
            <a:r>
              <a:rPr kumimoji="1" lang="en-US" altLang="ja-JP" sz="28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cubes.append</a:t>
            </a: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(a ** 3)</a:t>
            </a:r>
          </a:p>
          <a:p>
            <a:pPr>
              <a:lnSpc>
                <a:spcPct val="150000"/>
              </a:lnSpc>
            </a:pPr>
            <a:endParaRPr kumimoji="1"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print(cubes) 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[0, 1, 8, 27, 64]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05A8348-6619-4728-D8CA-614803609F01}"/>
              </a:ext>
            </a:extLst>
          </p:cNvPr>
          <p:cNvSpPr/>
          <p:nvPr/>
        </p:nvSpPr>
        <p:spPr>
          <a:xfrm>
            <a:off x="522775" y="4915381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</a:t>
            </a:r>
          </a:p>
        </p:txBody>
      </p:sp>
    </p:spTree>
    <p:extLst>
      <p:ext uri="{BB962C8B-B14F-4D97-AF65-F5344CB8AC3E}">
        <p14:creationId xmlns:p14="http://schemas.microsoft.com/office/powerpoint/2010/main" val="49709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9562-65A6-BBCF-6B60-18020C1F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D6B40BC-5B7C-EAB9-5E28-A817DF47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08102"/>
            <a:ext cx="13937555" cy="7809971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D8433B7-06E6-D82E-62CE-15F30806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ネストされた内包表記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21C52F-81A7-7F56-4BD1-02F9186DE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04D5C55-2F42-7C6D-55C4-5AAF08779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639" y="3808253"/>
            <a:ext cx="7135691" cy="581154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01B4922F-AF43-8BAA-9649-CBD15DAD467E}"/>
              </a:ext>
            </a:extLst>
          </p:cNvPr>
          <p:cNvSpPr/>
          <p:nvPr/>
        </p:nvSpPr>
        <p:spPr>
          <a:xfrm>
            <a:off x="7689274" y="877909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EB33BD-2ECD-DB0B-545A-9727FA896C5F}"/>
              </a:ext>
            </a:extLst>
          </p:cNvPr>
          <p:cNvSpPr/>
          <p:nvPr/>
        </p:nvSpPr>
        <p:spPr>
          <a:xfrm>
            <a:off x="7397375" y="2537032"/>
            <a:ext cx="10412679" cy="9169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式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in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イテラブル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for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in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イテラブル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... if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条件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]</a:t>
            </a:r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953CDB-EFB7-5087-A526-C603D8C6DB62}"/>
              </a:ext>
            </a:extLst>
          </p:cNvPr>
          <p:cNvSpPr/>
          <p:nvPr/>
        </p:nvSpPr>
        <p:spPr>
          <a:xfrm>
            <a:off x="7397375" y="1848971"/>
            <a:ext cx="3790596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ネストされた内包表記</a:t>
            </a:r>
          </a:p>
        </p:txBody>
      </p:sp>
    </p:spTree>
    <p:extLst>
      <p:ext uri="{BB962C8B-B14F-4D97-AF65-F5344CB8AC3E}">
        <p14:creationId xmlns:p14="http://schemas.microsoft.com/office/powerpoint/2010/main" val="58445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AC1B-70D3-807F-A041-51477A42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CD5570A-3D72-ED90-5966-7DE464FE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13496"/>
            <a:ext cx="8849960" cy="8002117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8C89997C-6AEB-ABAB-4D20-A25F7B0E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21.zip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39609-A874-8007-9946-0412A2D1B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C03C453-0BA5-941B-E7E6-0D104C740CEC}"/>
              </a:ext>
            </a:extLst>
          </p:cNvPr>
          <p:cNvSpPr/>
          <p:nvPr/>
        </p:nvSpPr>
        <p:spPr>
          <a:xfrm>
            <a:off x="762001" y="805865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CE1E0C-9B61-E62A-14A3-C85552D2FBED}"/>
              </a:ext>
            </a:extLst>
          </p:cNvPr>
          <p:cNvSpPr txBox="1"/>
          <p:nvPr/>
        </p:nvSpPr>
        <p:spPr>
          <a:xfrm>
            <a:off x="8984681" y="5459080"/>
            <a:ext cx="6080511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</a:t>
            </a:r>
            <a:r>
              <a:rPr lang="ja-JP" altLang="en-US" dirty="0">
                <a:solidFill>
                  <a:srgbClr val="FF0000"/>
                </a:solidFill>
              </a:rPr>
              <a:t>文法エラー。関数なので（）を使う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14C8E7-3C62-6066-C376-712B8B79208D}"/>
              </a:ext>
            </a:extLst>
          </p:cNvPr>
          <p:cNvSpPr txBox="1"/>
          <p:nvPr/>
        </p:nvSpPr>
        <p:spPr>
          <a:xfrm>
            <a:off x="8984681" y="6292455"/>
            <a:ext cx="2890535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✕リスト化が必要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5FDEBD-A859-A5BF-3CDC-970709C6FEAC}"/>
              </a:ext>
            </a:extLst>
          </p:cNvPr>
          <p:cNvSpPr txBox="1"/>
          <p:nvPr/>
        </p:nvSpPr>
        <p:spPr>
          <a:xfrm>
            <a:off x="8984681" y="7070784"/>
            <a:ext cx="839524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✕アンパックにしないと行ごとの処理になってしまう</a:t>
            </a:r>
            <a:endParaRPr kumimoji="1" lang="en-US" altLang="ja-JP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　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list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と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zip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の位置関係が逆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12E1D3-205F-A51D-F01B-DF2319ACBD0A}"/>
              </a:ext>
            </a:extLst>
          </p:cNvPr>
          <p:cNvSpPr txBox="1"/>
          <p:nvPr/>
        </p:nvSpPr>
        <p:spPr>
          <a:xfrm>
            <a:off x="8984681" y="8893312"/>
            <a:ext cx="8395247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✕アンパックにしないと行ごとの処理になってしまう</a:t>
            </a:r>
          </a:p>
        </p:txBody>
      </p:sp>
    </p:spTree>
    <p:extLst>
      <p:ext uri="{BB962C8B-B14F-4D97-AF65-F5344CB8AC3E}">
        <p14:creationId xmlns:p14="http://schemas.microsoft.com/office/powerpoint/2010/main" val="418815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D90E-0EC0-9961-5DAD-5B496929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F16584A0-BFC1-AAEB-DD85-E75D4A1F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24.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タプルや文字列の比較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5E600CE-CEBF-9C16-6A86-4A5E0951B6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07F90C7-4D0D-6300-0C54-90AC271A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49" y="2151703"/>
            <a:ext cx="17272901" cy="5983593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77E95EDE-EEBD-3D83-3A20-BDCA0A5CA0AB}"/>
              </a:ext>
            </a:extLst>
          </p:cNvPr>
          <p:cNvSpPr/>
          <p:nvPr/>
        </p:nvSpPr>
        <p:spPr>
          <a:xfrm>
            <a:off x="804719" y="639071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E23D42-CD19-7AC4-9E36-F5D8D97EB20A}"/>
              </a:ext>
            </a:extLst>
          </p:cNvPr>
          <p:cNvSpPr/>
          <p:nvPr/>
        </p:nvSpPr>
        <p:spPr>
          <a:xfrm>
            <a:off x="8128000" y="3293336"/>
            <a:ext cx="9637225" cy="56080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は同じです。</a:t>
            </a: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は同じです。</a:t>
            </a: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タプル同士を比較します。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aa','ab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','a')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'aa'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を比較します。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文字目の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は同じです。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文字目の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‘a‘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’b’</a:t>
            </a:r>
            <a:r>
              <a:rPr kumimoji="1" lang="ja-JP" altLang="en-US" sz="2400">
                <a:latin typeface="Noto Sans JP" panose="020B0200000000000000" pitchFamily="50" charset="-128"/>
                <a:ea typeface="Noto Sans JP" panose="020B0200000000000000" pitchFamily="50" charset="-128"/>
              </a:rPr>
              <a:t>では、</a:t>
            </a:r>
            <a:r>
              <a:rPr kumimoji="1" lang="en-US" altLang="ja-JP" sz="2400">
                <a:latin typeface="Noto Sans JP" panose="020B0200000000000000" pitchFamily="50" charset="-128"/>
                <a:ea typeface="Noto Sans JP" panose="020B0200000000000000" pitchFamily="50" charset="-128"/>
              </a:rPr>
              <a:t>‘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a‘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の方が小さいと見なされるので、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'aa' &lt; 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は真（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）です。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番目の要素で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と判定されるため、式全体は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となります。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A08B71D-5526-CF2E-99F0-87EE6FDB874C}"/>
              </a:ext>
            </a:extLst>
          </p:cNvPr>
          <p:cNvSpPr/>
          <p:nvPr/>
        </p:nvSpPr>
        <p:spPr>
          <a:xfrm>
            <a:off x="8128000" y="2605275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選択肢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の比較</a:t>
            </a:r>
          </a:p>
        </p:txBody>
      </p:sp>
    </p:spTree>
    <p:extLst>
      <p:ext uri="{BB962C8B-B14F-4D97-AF65-F5344CB8AC3E}">
        <p14:creationId xmlns:p14="http://schemas.microsoft.com/office/powerpoint/2010/main" val="326543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5FEB-14C1-9067-FEDD-94F7315D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9561150-F6D7-33F4-EDD7-B4E1AEB1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76027"/>
            <a:ext cx="15352470" cy="752037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7D1005A6-BF4B-C8AE-F358-D6817254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28.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クリーンアップ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CFD244-6597-6B53-36E9-681084113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F0D4E754-6E26-CEBE-021B-E55D880A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8199" y="3249022"/>
            <a:ext cx="4165082" cy="6047378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2B919D3-EAFF-38D3-C57C-4F5CBA6FFCC8}"/>
              </a:ext>
            </a:extLst>
          </p:cNvPr>
          <p:cNvSpPr/>
          <p:nvPr/>
        </p:nvSpPr>
        <p:spPr>
          <a:xfrm>
            <a:off x="13732926" y="712500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FE98CFB-A5DF-21DD-5B89-D924180BA23A}"/>
              </a:ext>
            </a:extLst>
          </p:cNvPr>
          <p:cNvCxnSpPr/>
          <p:nvPr/>
        </p:nvCxnSpPr>
        <p:spPr>
          <a:xfrm>
            <a:off x="4197927" y="3671454"/>
            <a:ext cx="300643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07FBC8E-56CA-0BE2-E71F-6755C0804202}"/>
              </a:ext>
            </a:extLst>
          </p:cNvPr>
          <p:cNvSpPr txBox="1"/>
          <p:nvPr/>
        </p:nvSpPr>
        <p:spPr>
          <a:xfrm>
            <a:off x="7240341" y="3355572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整数に変換成功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0EFC83D-00D4-8308-EAD4-5F20768F44CF}"/>
              </a:ext>
            </a:extLst>
          </p:cNvPr>
          <p:cNvCxnSpPr/>
          <p:nvPr/>
        </p:nvCxnSpPr>
        <p:spPr>
          <a:xfrm>
            <a:off x="4197927" y="4082305"/>
            <a:ext cx="3006437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78A07F4-42D7-BBA4-78AC-5DE89EEAA041}"/>
              </a:ext>
            </a:extLst>
          </p:cNvPr>
          <p:cNvSpPr txBox="1"/>
          <p:nvPr/>
        </p:nvSpPr>
        <p:spPr>
          <a:xfrm>
            <a:off x="7240341" y="3847189"/>
            <a:ext cx="4806124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整数に変換失敗 → </a:t>
            </a:r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ValueError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C4F77B7-A220-3296-CDA6-EE0E3085FF9D}"/>
              </a:ext>
            </a:extLst>
          </p:cNvPr>
          <p:cNvCxnSpPr>
            <a:cxnSpLocks/>
          </p:cNvCxnSpPr>
          <p:nvPr/>
        </p:nvCxnSpPr>
        <p:spPr>
          <a:xfrm>
            <a:off x="3255818" y="6184796"/>
            <a:ext cx="3948546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036414D-0DF9-B45D-E822-F264B865CD32}"/>
              </a:ext>
            </a:extLst>
          </p:cNvPr>
          <p:cNvSpPr txBox="1"/>
          <p:nvPr/>
        </p:nvSpPr>
        <p:spPr>
          <a:xfrm>
            <a:off x="7240341" y="5764880"/>
            <a:ext cx="3690434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ValueError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をキャッチ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7EF6340-596A-E828-E733-84D4F97D4B2E}"/>
              </a:ext>
            </a:extLst>
          </p:cNvPr>
          <p:cNvCxnSpPr>
            <a:cxnSpLocks/>
          </p:cNvCxnSpPr>
          <p:nvPr/>
        </p:nvCxnSpPr>
        <p:spPr>
          <a:xfrm>
            <a:off x="3255818" y="6545014"/>
            <a:ext cx="3948546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0280D8-2410-E40B-946D-AB52DD4BA74F}"/>
              </a:ext>
            </a:extLst>
          </p:cNvPr>
          <p:cNvSpPr txBox="1"/>
          <p:nvPr/>
        </p:nvSpPr>
        <p:spPr>
          <a:xfrm>
            <a:off x="7240341" y="6359443"/>
            <a:ext cx="1789272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“D”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を出力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02F5EAE-8F93-4121-BC62-B7F37EC80187}"/>
              </a:ext>
            </a:extLst>
          </p:cNvPr>
          <p:cNvCxnSpPr>
            <a:cxnSpLocks/>
          </p:cNvCxnSpPr>
          <p:nvPr/>
        </p:nvCxnSpPr>
        <p:spPr>
          <a:xfrm>
            <a:off x="1648691" y="8650907"/>
            <a:ext cx="5555673" cy="0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04CF98-4074-11CD-384A-5F79C69826FC}"/>
              </a:ext>
            </a:extLst>
          </p:cNvPr>
          <p:cNvSpPr txBox="1"/>
          <p:nvPr/>
        </p:nvSpPr>
        <p:spPr>
          <a:xfrm>
            <a:off x="7240341" y="8327716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必ず実行される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43042A9-FC8D-4E57-E4C3-12B5FF80D2A7}"/>
              </a:ext>
            </a:extLst>
          </p:cNvPr>
          <p:cNvCxnSpPr>
            <a:cxnSpLocks/>
          </p:cNvCxnSpPr>
          <p:nvPr/>
        </p:nvCxnSpPr>
        <p:spPr>
          <a:xfrm>
            <a:off x="2105891" y="9052688"/>
            <a:ext cx="5098473" cy="0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F94E53F-5360-9951-EF64-2E8722721423}"/>
              </a:ext>
            </a:extLst>
          </p:cNvPr>
          <p:cNvSpPr txBox="1"/>
          <p:nvPr/>
        </p:nvSpPr>
        <p:spPr>
          <a:xfrm>
            <a:off x="7240341" y="8826690"/>
            <a:ext cx="17892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B050"/>
                </a:solidFill>
                <a:latin typeface="+mj-ea"/>
                <a:ea typeface="+mj-ea"/>
              </a:rPr>
              <a:t>“G”</a:t>
            </a:r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を出力</a:t>
            </a:r>
          </a:p>
        </p:txBody>
      </p:sp>
    </p:spTree>
    <p:extLst>
      <p:ext uri="{BB962C8B-B14F-4D97-AF65-F5344CB8AC3E}">
        <p14:creationId xmlns:p14="http://schemas.microsoft.com/office/powerpoint/2010/main" val="3872263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546D-8B04-1957-FDF4-CBA92622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01E84C9-AE9D-F84D-6D74-588EED03E1F6}"/>
              </a:ext>
            </a:extLst>
          </p:cNvPr>
          <p:cNvSpPr/>
          <p:nvPr/>
        </p:nvSpPr>
        <p:spPr>
          <a:xfrm>
            <a:off x="522775" y="1716111"/>
            <a:ext cx="11295152" cy="78355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DF94855B-39DB-4FD2-B420-956D2D90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31. 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例外送出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3064AE4-D0E9-8D04-695A-26F36420E4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EEEB7FB-C848-E601-3677-8236289E0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296"/>
          <a:stretch>
            <a:fillRect/>
          </a:stretch>
        </p:blipFill>
        <p:spPr>
          <a:xfrm>
            <a:off x="522775" y="1716111"/>
            <a:ext cx="6992326" cy="77001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229F-597E-14EF-4723-3BFB60A61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75" y="2486127"/>
            <a:ext cx="2982425" cy="706550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4D9243F-136A-C136-A9D2-662340704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58" y="2101119"/>
            <a:ext cx="2428603" cy="23629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FB806EE0-8F71-AE86-7162-523EB2424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558" y="5143500"/>
            <a:ext cx="5090960" cy="4106806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709EDA9-72DF-9E52-94B1-E84027D755DB}"/>
              </a:ext>
            </a:extLst>
          </p:cNvPr>
          <p:cNvSpPr/>
          <p:nvPr/>
        </p:nvSpPr>
        <p:spPr>
          <a:xfrm>
            <a:off x="13609087" y="199169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【A】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433E5-E808-1B42-8432-4CEBEAF98E98}"/>
              </a:ext>
            </a:extLst>
          </p:cNvPr>
          <p:cNvSpPr/>
          <p:nvPr/>
        </p:nvSpPr>
        <p:spPr>
          <a:xfrm>
            <a:off x="13609087" y="269813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【B】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6349705-A7D4-D309-439F-4BB034D134B1}"/>
              </a:ext>
            </a:extLst>
          </p:cNvPr>
          <p:cNvSpPr/>
          <p:nvPr/>
        </p:nvSpPr>
        <p:spPr>
          <a:xfrm>
            <a:off x="13609087" y="340676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【C】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55E05D7-9CCE-C117-FFEA-2D98762EF1DE}"/>
              </a:ext>
            </a:extLst>
          </p:cNvPr>
          <p:cNvSpPr/>
          <p:nvPr/>
        </p:nvSpPr>
        <p:spPr>
          <a:xfrm>
            <a:off x="13609087" y="4110922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【D】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80C2F74-3CA6-38E5-3F4B-323FBF2397ED}"/>
              </a:ext>
            </a:extLst>
          </p:cNvPr>
          <p:cNvSpPr/>
          <p:nvPr/>
        </p:nvSpPr>
        <p:spPr>
          <a:xfrm>
            <a:off x="14932350" y="2702610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???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CDB0A5C-7E2D-DDBE-4A87-5ECF890D8E78}"/>
              </a:ext>
            </a:extLst>
          </p:cNvPr>
          <p:cNvSpPr/>
          <p:nvPr/>
        </p:nvSpPr>
        <p:spPr>
          <a:xfrm>
            <a:off x="14932350" y="3400126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is a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E6AB0EF-D476-BA1D-B179-EFD435657CF2}"/>
              </a:ext>
            </a:extLst>
          </p:cNvPr>
          <p:cNvSpPr/>
          <p:nvPr/>
        </p:nvSpPr>
        <p:spPr>
          <a:xfrm>
            <a:off x="14932350" y="2000620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Saya’s</a:t>
            </a:r>
            <a:endParaRPr kumimoji="1" lang="ja-JP" altLang="en-US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4B6262C-FF99-54B2-29EB-0C9ED4F1008D}"/>
              </a:ext>
            </a:extLst>
          </p:cNvPr>
          <p:cNvSpPr/>
          <p:nvPr/>
        </p:nvSpPr>
        <p:spPr>
          <a:xfrm>
            <a:off x="14932350" y="4097642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reliable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CAE1924-CAB1-ABEF-3286-672C06C0A1A2}"/>
              </a:ext>
            </a:extLst>
          </p:cNvPr>
          <p:cNvSpPr/>
          <p:nvPr/>
        </p:nvSpPr>
        <p:spPr>
          <a:xfrm>
            <a:off x="13609087" y="4830524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【E】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EDBE1C-1BE4-FB51-CEE5-439D8419CF21}"/>
              </a:ext>
            </a:extLst>
          </p:cNvPr>
          <p:cNvSpPr/>
          <p:nvPr/>
        </p:nvSpPr>
        <p:spPr>
          <a:xfrm>
            <a:off x="14932350" y="4790339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partner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B48F1496-5D5C-F833-5699-E76E0AFF84E0}"/>
              </a:ext>
            </a:extLst>
          </p:cNvPr>
          <p:cNvSpPr/>
          <p:nvPr/>
        </p:nvSpPr>
        <p:spPr>
          <a:xfrm>
            <a:off x="8177252" y="774253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19821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6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44C5-336A-7A07-B840-DF70D817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9C388A-EADE-3A07-CF2B-3205A549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09232"/>
            <a:ext cx="10280000" cy="7953868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097B6C06-32F1-553C-D636-80F58EB9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71DFC3D-5738-4C95-82AE-DB02B7231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DB57A33-BBA3-F3F7-6025-0E56ACDB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50" y="2924286"/>
            <a:ext cx="5042150" cy="5323760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28016A25-7971-77D2-1B4D-B4A601C46FF6}"/>
              </a:ext>
            </a:extLst>
          </p:cNvPr>
          <p:cNvSpPr/>
          <p:nvPr/>
        </p:nvSpPr>
        <p:spPr>
          <a:xfrm>
            <a:off x="11878848" y="63732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D5E321-9835-28A7-47D1-4C2A5CFF2B3F}"/>
              </a:ext>
            </a:extLst>
          </p:cNvPr>
          <p:cNvSpPr/>
          <p:nvPr/>
        </p:nvSpPr>
        <p:spPr>
          <a:xfrm>
            <a:off x="11391650" y="2305989"/>
            <a:ext cx="1663700" cy="571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517923D-74B2-5BC1-6D2F-FA32D35C6A5F}"/>
              </a:ext>
            </a:extLst>
          </p:cNvPr>
          <p:cNvSpPr/>
          <p:nvPr/>
        </p:nvSpPr>
        <p:spPr>
          <a:xfrm>
            <a:off x="685800" y="2629839"/>
            <a:ext cx="977900" cy="332547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3012D97-C7C1-AD2C-5834-96654FB752F0}"/>
              </a:ext>
            </a:extLst>
          </p:cNvPr>
          <p:cNvCxnSpPr>
            <a:cxnSpLocks/>
          </p:cNvCxnSpPr>
          <p:nvPr/>
        </p:nvCxnSpPr>
        <p:spPr>
          <a:xfrm>
            <a:off x="1816100" y="2788589"/>
            <a:ext cx="12065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B84083-EADC-2898-926D-118B27F3FDE9}"/>
              </a:ext>
            </a:extLst>
          </p:cNvPr>
          <p:cNvSpPr txBox="1"/>
          <p:nvPr/>
        </p:nvSpPr>
        <p:spPr>
          <a:xfrm>
            <a:off x="3022600" y="2553639"/>
            <a:ext cx="449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関数の外にあるグローバル変数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F0AF68-5EB1-66E0-041B-F5D5CF315B85}"/>
              </a:ext>
            </a:extLst>
          </p:cNvPr>
          <p:cNvSpPr/>
          <p:nvPr/>
        </p:nvSpPr>
        <p:spPr>
          <a:xfrm>
            <a:off x="920750" y="3294659"/>
            <a:ext cx="889000" cy="274832"/>
          </a:xfrm>
          <a:prstGeom prst="rect">
            <a:avLst/>
          </a:prstGeom>
          <a:solidFill>
            <a:srgbClr val="0066FF">
              <a:alpha val="20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A4B9AD8-2A0B-5A69-8B2E-8FEB23BBB1BF}"/>
              </a:ext>
            </a:extLst>
          </p:cNvPr>
          <p:cNvCxnSpPr>
            <a:cxnSpLocks/>
          </p:cNvCxnSpPr>
          <p:nvPr/>
        </p:nvCxnSpPr>
        <p:spPr>
          <a:xfrm>
            <a:off x="1925782" y="3426664"/>
            <a:ext cx="1096818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9A80F7F-80D4-5B3E-9F62-032E574D26A5}"/>
              </a:ext>
            </a:extLst>
          </p:cNvPr>
          <p:cNvSpPr txBox="1"/>
          <p:nvPr/>
        </p:nvSpPr>
        <p:spPr>
          <a:xfrm>
            <a:off x="3022600" y="3195831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関数のローカル変数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45CD157-4FD7-EB45-9498-6444F543C13A}"/>
              </a:ext>
            </a:extLst>
          </p:cNvPr>
          <p:cNvSpPr/>
          <p:nvPr/>
        </p:nvSpPr>
        <p:spPr>
          <a:xfrm>
            <a:off x="1149350" y="3907333"/>
            <a:ext cx="889000" cy="274832"/>
          </a:xfrm>
          <a:prstGeom prst="rect">
            <a:avLst/>
          </a:prstGeom>
          <a:solidFill>
            <a:srgbClr val="00B050">
              <a:alpha val="20000"/>
            </a:srgb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1F9130A-04CD-7471-025B-ED0481DA0440}"/>
              </a:ext>
            </a:extLst>
          </p:cNvPr>
          <p:cNvCxnSpPr>
            <a:cxnSpLocks/>
          </p:cNvCxnSpPr>
          <p:nvPr/>
        </p:nvCxnSpPr>
        <p:spPr>
          <a:xfrm>
            <a:off x="2159000" y="4044749"/>
            <a:ext cx="8636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8BCFF2A-346A-B917-E91C-F03A49DE0813}"/>
              </a:ext>
            </a:extLst>
          </p:cNvPr>
          <p:cNvSpPr txBox="1"/>
          <p:nvPr/>
        </p:nvSpPr>
        <p:spPr>
          <a:xfrm>
            <a:off x="3022600" y="3813916"/>
            <a:ext cx="4190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ja-JP" altLang="en-US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関数のローカル変数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BB4EAD0-4EDF-F2C9-DC5B-9AFC3D880E4A}"/>
              </a:ext>
            </a:extLst>
          </p:cNvPr>
          <p:cNvSpPr/>
          <p:nvPr/>
        </p:nvSpPr>
        <p:spPr>
          <a:xfrm>
            <a:off x="1205998" y="4542608"/>
            <a:ext cx="1132977" cy="532300"/>
          </a:xfrm>
          <a:prstGeom prst="rect">
            <a:avLst/>
          </a:prstGeom>
          <a:solidFill>
            <a:srgbClr val="0066FF">
              <a:alpha val="20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910CAD5-BA82-1AAB-FA50-F527A65CAACC}"/>
              </a:ext>
            </a:extLst>
          </p:cNvPr>
          <p:cNvCxnSpPr>
            <a:cxnSpLocks/>
          </p:cNvCxnSpPr>
          <p:nvPr/>
        </p:nvCxnSpPr>
        <p:spPr>
          <a:xfrm>
            <a:off x="2438400" y="4860922"/>
            <a:ext cx="5842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69D07BB-271D-C991-1AF3-13190A253B15}"/>
              </a:ext>
            </a:extLst>
          </p:cNvPr>
          <p:cNvSpPr txBox="1"/>
          <p:nvPr/>
        </p:nvSpPr>
        <p:spPr>
          <a:xfrm>
            <a:off x="3022600" y="4612528"/>
            <a:ext cx="639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scope()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</a:t>
            </a:r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を参照し、その</a:t>
            </a:r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を書き換える</a:t>
            </a:r>
            <a:endParaRPr kumimoji="1" lang="en-US" altLang="ja-JP" sz="2400" dirty="0">
              <a:solidFill>
                <a:srgbClr val="0066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ECD22AC-B352-02D3-3EDE-E2724321ECD0}"/>
              </a:ext>
            </a:extLst>
          </p:cNvPr>
          <p:cNvSpPr/>
          <p:nvPr/>
        </p:nvSpPr>
        <p:spPr>
          <a:xfrm>
            <a:off x="1187450" y="5482891"/>
            <a:ext cx="971550" cy="539735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8795754-752E-5F6E-7E48-3F3AC91BC65C}"/>
              </a:ext>
            </a:extLst>
          </p:cNvPr>
          <p:cNvCxnSpPr>
            <a:cxnSpLocks/>
          </p:cNvCxnSpPr>
          <p:nvPr/>
        </p:nvCxnSpPr>
        <p:spPr>
          <a:xfrm>
            <a:off x="2286000" y="5785083"/>
            <a:ext cx="736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469AD62-AD8D-00EF-398E-A299E1380B30}"/>
              </a:ext>
            </a:extLst>
          </p:cNvPr>
          <p:cNvSpPr txBox="1"/>
          <p:nvPr/>
        </p:nvSpPr>
        <p:spPr>
          <a:xfrm>
            <a:off x="3022600" y="5521925"/>
            <a:ext cx="6758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グローバル変数を参照し、その</a:t>
            </a:r>
            <a:r>
              <a:rPr kumimoji="1" lang="en-US" altLang="ja-JP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を書き換える</a:t>
            </a:r>
          </a:p>
        </p:txBody>
      </p:sp>
    </p:spTree>
    <p:extLst>
      <p:ext uri="{BB962C8B-B14F-4D97-AF65-F5344CB8AC3E}">
        <p14:creationId xmlns:p14="http://schemas.microsoft.com/office/powerpoint/2010/main" val="17286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/>
      <p:bldP spid="16" grpId="0" animBg="1"/>
      <p:bldP spid="18" grpId="0"/>
      <p:bldP spid="19" grpId="0" animBg="1"/>
      <p:bldP spid="22" grpId="0"/>
      <p:bldP spid="23" grpId="0" animBg="1"/>
      <p:bldP spid="25" grpId="0"/>
      <p:bldP spid="27" grpId="0" animBg="1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73A6-A8A7-CE27-98CD-2819F469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B77241C-238D-50B0-298C-15CE5320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3" y="1628766"/>
            <a:ext cx="17498058" cy="792163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EF715B78-BAEE-60C0-C7E0-CE5817D7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34.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コマンドライン引数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1D6EED-1453-E7B3-79FD-6D82A69826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DA701E9-5EC0-E5D2-5269-0D78767EEF07}"/>
              </a:ext>
            </a:extLst>
          </p:cNvPr>
          <p:cNvSpPr/>
          <p:nvPr/>
        </p:nvSpPr>
        <p:spPr>
          <a:xfrm>
            <a:off x="974439" y="4506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36001A-1362-FC5F-8F9A-54FC997E069C}"/>
              </a:ext>
            </a:extLst>
          </p:cNvPr>
          <p:cNvSpPr/>
          <p:nvPr/>
        </p:nvSpPr>
        <p:spPr>
          <a:xfrm>
            <a:off x="6858000" y="4381500"/>
            <a:ext cx="9448800" cy="660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sys.argv</a:t>
            </a:r>
            <a:r>
              <a:rPr kumimoji="1" lang="en-US" altLang="ja-JP" sz="24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[0]: </a:t>
            </a:r>
            <a:r>
              <a:rPr kumimoji="1" lang="ja-JP" altLang="en-US" sz="24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は常に実行されたスクリプトのファイル名になる</a:t>
            </a:r>
          </a:p>
        </p:txBody>
      </p:sp>
    </p:spTree>
    <p:extLst>
      <p:ext uri="{BB962C8B-B14F-4D97-AF65-F5344CB8AC3E}">
        <p14:creationId xmlns:p14="http://schemas.microsoft.com/office/powerpoint/2010/main" val="75540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8BD4-88DD-30A4-F678-33EF09D2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16DC7AD-1004-054E-E537-CE93F52BB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38292"/>
            <a:ext cx="17363780" cy="7835908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9594D35D-D037-816C-5E35-AF17CF9F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35.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正規表現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F6B222-149C-CFD4-FDE5-DF061C811D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25BD2EE-1799-6F63-38AE-3BE49981E244}"/>
              </a:ext>
            </a:extLst>
          </p:cNvPr>
          <p:cNvSpPr/>
          <p:nvPr/>
        </p:nvSpPr>
        <p:spPr>
          <a:xfrm>
            <a:off x="842819" y="6538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1231561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46D5-79C1-340E-8349-DB43624F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E542FB3A-DB67-F93D-6163-9E9D7C58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35.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正規表現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B486B9F-987B-5AA5-3455-EF0B8CCFD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43465070-66DE-1712-5E08-735D26917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54256"/>
              </p:ext>
            </p:extLst>
          </p:nvPr>
        </p:nvGraphicFramePr>
        <p:xfrm>
          <a:off x="522775" y="1763078"/>
          <a:ext cx="16977828" cy="7787327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217125">
                  <a:extLst>
                    <a:ext uri="{9D8B030D-6E8A-4147-A177-3AD203B41FA5}">
                      <a16:colId xmlns:a16="http://schemas.microsoft.com/office/drawing/2014/main" val="220955335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770504289"/>
                    </a:ext>
                  </a:extLst>
                </a:gridCol>
                <a:gridCol w="3506387">
                  <a:extLst>
                    <a:ext uri="{9D8B030D-6E8A-4147-A177-3AD203B41FA5}">
                      <a16:colId xmlns:a16="http://schemas.microsoft.com/office/drawing/2014/main" val="353184288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022455934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2445247621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578193391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864939008"/>
                    </a:ext>
                  </a:extLst>
                </a:gridCol>
              </a:tblGrid>
              <a:tr h="1104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文字位置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4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パターン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KUSANAGISAYA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Kuronami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SuZunone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SUSANOO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kusanomi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72034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(K|S)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680869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049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(r|s)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Z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989010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(a|o)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413938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146093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88532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(a|o)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634425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(o|m)?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822484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245298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19443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11-14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(saya)?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SAYA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703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444795"/>
      </p:ext>
    </p:extLst>
  </p:cSld>
  <p:clrMapOvr>
    <a:masterClrMapping/>
  </p:clrMapOvr>
</p:sld>
</file>

<file path=ppt/theme/theme1.xml><?xml version="1.0" encoding="utf-8"?>
<a:theme xmlns:a="http://schemas.openxmlformats.org/drawingml/2006/main" name="No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lnair">
      <a:majorFont>
        <a:latin typeface="Bebas Neue Regular"/>
        <a:ea typeface="Capella Light"/>
        <a:cs typeface=""/>
      </a:majorFont>
      <a:minorFont>
        <a:latin typeface="Roboto"/>
        <a:ea typeface="Capell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6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85000"/>
                <a:lumOff val="15000"/>
              </a:schemeClr>
            </a:solidFill>
            <a:latin typeface="Aller Light" panose="02000503000000020004" pitchFamily="2" charset="0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onsolas"/>
        <a:ea typeface="Noto Sans JP"/>
        <a:cs typeface=""/>
      </a:majorFont>
      <a:minorFont>
        <a:latin typeface="Consolas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6600"/>
        </a:solidFill>
        <a:ln>
          <a:noFill/>
        </a:ln>
      </a:spPr>
      <a:bodyPr rtlCol="0" anchor="ctr"/>
      <a:lstStyle>
        <a:defPPr algn="ctr">
          <a:defRPr sz="40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dirty="0" smtClean="0">
            <a:solidFill>
              <a:schemeClr val="tx1">
                <a:lumMod val="85000"/>
                <a:lumOff val="15000"/>
              </a:schemeClr>
            </a:solidFill>
            <a:latin typeface="+mj-lt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10436</TotalTime>
  <Words>1521</Words>
  <Application>Microsoft Office PowerPoint</Application>
  <PresentationFormat>ユーザー設定</PresentationFormat>
  <Paragraphs>298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21</vt:i4>
      </vt:variant>
    </vt:vector>
  </HeadingPairs>
  <TitlesOfParts>
    <vt:vector size="30" baseType="lpstr">
      <vt:lpstr>Aller Light</vt:lpstr>
      <vt:lpstr>Bebas Neue Bold</vt:lpstr>
      <vt:lpstr>Noto Sans JP</vt:lpstr>
      <vt:lpstr>Arial</vt:lpstr>
      <vt:lpstr>Calibri</vt:lpstr>
      <vt:lpstr>Consolas</vt:lpstr>
      <vt:lpstr>Wingdings</vt:lpstr>
      <vt:lpstr>No Header</vt:lpstr>
      <vt:lpstr>Header</vt:lpstr>
      <vt:lpstr>8.</vt:lpstr>
      <vt:lpstr>9.</vt:lpstr>
      <vt:lpstr>10.</vt:lpstr>
      <vt:lpstr>10.</vt:lpstr>
      <vt:lpstr>10.</vt:lpstr>
      <vt:lpstr>12.</vt:lpstr>
      <vt:lpstr>12.</vt:lpstr>
      <vt:lpstr>13.関数のスコープ</vt:lpstr>
      <vt:lpstr>16.</vt:lpstr>
      <vt:lpstr>18.リスト操作</vt:lpstr>
      <vt:lpstr>19.map関数とlambda式</vt:lpstr>
      <vt:lpstr>19.map関数とlambda式</vt:lpstr>
      <vt:lpstr>20.ネストされた内包表記</vt:lpstr>
      <vt:lpstr>21.zip関数</vt:lpstr>
      <vt:lpstr>24.タプルや文字列の比較</vt:lpstr>
      <vt:lpstr>28. クリーンアップ</vt:lpstr>
      <vt:lpstr>31. 例外送出</vt:lpstr>
      <vt:lpstr>32.スコープ</vt:lpstr>
      <vt:lpstr>34.コマンドライン引数</vt:lpstr>
      <vt:lpstr>35.正規表現</vt:lpstr>
      <vt:lpstr>35.正規表現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taitoru</dc:title>
  <dc:creator>秋咲准</dc:creator>
  <cp:lastModifiedBy>1855</cp:lastModifiedBy>
  <cp:revision>311</cp:revision>
  <dcterms:created xsi:type="dcterms:W3CDTF">2014-05-07T13:22:54Z</dcterms:created>
  <dcterms:modified xsi:type="dcterms:W3CDTF">2026-02-17T01:40:35Z</dcterms:modified>
</cp:coreProperties>
</file>