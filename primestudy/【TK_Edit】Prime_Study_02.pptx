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  <p:sldMasterId id="2147483660" r:id="rId2"/>
  </p:sldMasterIdLst>
  <p:notesMasterIdLst>
    <p:notesMasterId r:id="rId22"/>
  </p:notesMasterIdLst>
  <p:handoutMasterIdLst>
    <p:handoutMasterId r:id="rId23"/>
  </p:handoutMasterIdLst>
  <p:sldIdLst>
    <p:sldId id="300" r:id="rId3"/>
    <p:sldId id="301" r:id="rId4"/>
    <p:sldId id="319" r:id="rId5"/>
    <p:sldId id="320" r:id="rId6"/>
    <p:sldId id="302" r:id="rId7"/>
    <p:sldId id="303" r:id="rId8"/>
    <p:sldId id="304" r:id="rId9"/>
    <p:sldId id="306" r:id="rId10"/>
    <p:sldId id="318" r:id="rId11"/>
    <p:sldId id="307" r:id="rId12"/>
    <p:sldId id="309" r:id="rId13"/>
    <p:sldId id="310" r:id="rId14"/>
    <p:sldId id="311" r:id="rId15"/>
    <p:sldId id="312" r:id="rId16"/>
    <p:sldId id="313" r:id="rId17"/>
    <p:sldId id="314" r:id="rId18"/>
    <p:sldId id="315" r:id="rId19"/>
    <p:sldId id="316" r:id="rId20"/>
    <p:sldId id="317" r:id="rId21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1F1F"/>
    <a:srgbClr val="0066FF"/>
    <a:srgbClr val="FFFFFF"/>
    <a:srgbClr val="3399FF"/>
    <a:srgbClr val="99CCFF"/>
    <a:srgbClr val="FF6600"/>
    <a:srgbClr val="0099FF"/>
    <a:srgbClr val="D6926B"/>
    <a:srgbClr val="0000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08" autoAdjust="0"/>
    <p:restoredTop sz="94660"/>
  </p:normalViewPr>
  <p:slideViewPr>
    <p:cSldViewPr snapToGrid="0">
      <p:cViewPr varScale="1">
        <p:scale>
          <a:sx n="48" d="100"/>
          <a:sy n="48" d="100"/>
        </p:scale>
        <p:origin x="432" y="67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298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6074-3ABC-45E1-B916-FEC97060DD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1DD687-6233-47B9-B4B4-25AECA7069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695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09915-3BD3-4C61-BDA5-20689B9856F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129B96-90C9-4C4A-9463-7040911BA0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89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273300" y="3302000"/>
            <a:ext cx="13728700" cy="358619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2000"/>
              </a:lnSpc>
              <a:defRPr sz="15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2286000" y="7019632"/>
            <a:ext cx="13716000" cy="6130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Author or subtitle here</a:t>
            </a:r>
            <a:endParaRPr 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2260600" y="7511113"/>
            <a:ext cx="13716000" cy="379919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</a:lstStyle>
          <a:p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2286000" y="6856652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79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4572000" y="6203398"/>
            <a:ext cx="13703862" cy="17459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6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Subtitle Here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559862" y="7911791"/>
            <a:ext cx="13716000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4572000" y="7829045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829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ingl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3614057"/>
            <a:ext cx="15748000" cy="278674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110512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23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Double 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2148114"/>
            <a:ext cx="15748000" cy="493485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5000"/>
              </a:lnSpc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792683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240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epara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10508342" y="0"/>
            <a:ext cx="7779657" cy="10287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90286" y="580571"/>
            <a:ext cx="9898743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lnSpc>
                <a:spcPts val="13000"/>
              </a:lnSpc>
              <a:defRPr sz="16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0769598" y="580571"/>
            <a:ext cx="7024915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ts val="4000"/>
              </a:lnSpc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</a:p>
          <a:p>
            <a:r>
              <a:rPr lang="en-US" dirty="0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3372001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13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2" hasCustomPrompt="1"/>
          </p:nvPr>
        </p:nvSpPr>
        <p:spPr>
          <a:xfrm>
            <a:off x="-309282" y="4894169"/>
            <a:ext cx="6790764" cy="928687"/>
          </a:xfrm>
          <a:prstGeom prst="rect">
            <a:avLst/>
          </a:prstGeom>
        </p:spPr>
        <p:txBody>
          <a:bodyPr/>
          <a:lstStyle>
            <a:lvl1pPr algn="r">
              <a:defRPr sz="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-1" y="5876924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2635625"/>
            <a:ext cx="11024504" cy="5775302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07503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+mn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52912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386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2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Caption1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プレースホルダー 8"/>
          <p:cNvSpPr>
            <a:spLocks noGrp="1"/>
          </p:cNvSpPr>
          <p:nvPr>
            <p:ph type="body" sz="quarter" idx="15" hasCustomPrompt="1"/>
          </p:nvPr>
        </p:nvSpPr>
        <p:spPr>
          <a:xfrm>
            <a:off x="7107085" y="5478616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Caption2 Here</a:t>
            </a:r>
            <a:endParaRPr lang="ja-JP" altLang="en-US" dirty="0"/>
          </a:p>
        </p:txBody>
      </p:sp>
      <p:sp>
        <p:nvSpPr>
          <p:cNvPr id="16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07085" y="6167953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7" name="直線コネクタ 16"/>
          <p:cNvCxnSpPr/>
          <p:nvPr userDrawn="1"/>
        </p:nvCxnSpPr>
        <p:spPr>
          <a:xfrm>
            <a:off x="7131895" y="6060377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54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86224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839052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839053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831956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839053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5239977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5092805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5092806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5085709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5092806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500079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9352907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9352908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9345811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9352908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図プレースホルダー 8"/>
          <p:cNvSpPr>
            <a:spLocks noGrp="1"/>
          </p:cNvSpPr>
          <p:nvPr>
            <p:ph type="pic" sz="quarter" idx="21" hasCustomPrompt="1"/>
          </p:nvPr>
        </p:nvSpPr>
        <p:spPr>
          <a:xfrm>
            <a:off x="13753832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9" name="正方形/長方形 28"/>
          <p:cNvSpPr/>
          <p:nvPr userDrawn="1"/>
        </p:nvSpPr>
        <p:spPr>
          <a:xfrm>
            <a:off x="13606660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30" name="テキスト プレースホルダー 8"/>
          <p:cNvSpPr>
            <a:spLocks noGrp="1"/>
          </p:cNvSpPr>
          <p:nvPr>
            <p:ph type="body" sz="quarter" idx="22" hasCustomPrompt="1"/>
          </p:nvPr>
        </p:nvSpPr>
        <p:spPr>
          <a:xfrm>
            <a:off x="13606661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31" name="テキスト プレースホルダー 8"/>
          <p:cNvSpPr>
            <a:spLocks noGrp="1"/>
          </p:cNvSpPr>
          <p:nvPr>
            <p:ph type="body" sz="quarter" idx="23" hasCustomPrompt="1"/>
          </p:nvPr>
        </p:nvSpPr>
        <p:spPr>
          <a:xfrm>
            <a:off x="13599564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32" name="直線コネクタ 31"/>
          <p:cNvCxnSpPr/>
          <p:nvPr userDrawn="1"/>
        </p:nvCxnSpPr>
        <p:spPr>
          <a:xfrm>
            <a:off x="13606661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898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7286491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7139319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12969740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12822568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81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6587777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6580680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6587777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271026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263929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271026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646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133967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marL="0" marR="0" lvl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126870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133967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81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6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69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6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685509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678412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685509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7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825584" y="2095656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8" name="正方形/長方形 17"/>
          <p:cNvSpPr/>
          <p:nvPr userDrawn="1"/>
        </p:nvSpPr>
        <p:spPr>
          <a:xfrm>
            <a:off x="9678412" y="2095656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99271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461675"/>
            <a:ext cx="18289652" cy="4572413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22834"/>
            <a:ext cx="6481482" cy="635549"/>
          </a:xfrm>
          <a:prstGeom prst="rect">
            <a:avLst/>
          </a:prstGeom>
        </p:spPr>
        <p:txBody>
          <a:bodyPr anchor="b"/>
          <a:lstStyle>
            <a:lvl1pPr algn="r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6618515" y="6322834"/>
            <a:ext cx="11088914" cy="30679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8" name="正方形/長方形 27"/>
          <p:cNvSpPr/>
          <p:nvPr userDrawn="1"/>
        </p:nvSpPr>
        <p:spPr>
          <a:xfrm>
            <a:off x="-2" y="6958383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405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280225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1463675" y="1927449"/>
            <a:ext cx="3965349" cy="396534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  <p:sp>
        <p:nvSpPr>
          <p:cNvPr id="28" name="グラフ プレースホルダー 6"/>
          <p:cNvSpPr>
            <a:spLocks noGrp="1"/>
          </p:cNvSpPr>
          <p:nvPr>
            <p:ph type="chart" sz="quarter" idx="22" hasCustomPrompt="1"/>
          </p:nvPr>
        </p:nvSpPr>
        <p:spPr>
          <a:xfrm>
            <a:off x="7115786" y="192744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  <p:sp>
        <p:nvSpPr>
          <p:cNvPr id="29" name="グラフ プレースホルダー 6"/>
          <p:cNvSpPr>
            <a:spLocks noGrp="1"/>
          </p:cNvSpPr>
          <p:nvPr>
            <p:ph type="chart" sz="quarter" idx="23" hasCustomPrompt="1"/>
          </p:nvPr>
        </p:nvSpPr>
        <p:spPr>
          <a:xfrm>
            <a:off x="12822569" y="192468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0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067502" y="2862602"/>
            <a:ext cx="8318843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60404" y="3549425"/>
            <a:ext cx="8333821" cy="454184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067502" y="3450878"/>
            <a:ext cx="8318843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796950" y="2862602"/>
            <a:ext cx="8127999" cy="522866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</p:spTree>
    <p:extLst>
      <p:ext uri="{BB962C8B-B14F-4D97-AF65-F5344CB8AC3E}">
        <p14:creationId xmlns:p14="http://schemas.microsoft.com/office/powerpoint/2010/main" val="417696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5637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7" r:id="rId3"/>
    <p:sldLayoutId id="2147483668" r:id="rId4"/>
    <p:sldLayoutId id="2147483669" r:id="rId5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Char char=""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/>
          <p:cNvSpPr/>
          <p:nvPr userDrawn="1"/>
        </p:nvSpPr>
        <p:spPr>
          <a:xfrm>
            <a:off x="0" y="9721516"/>
            <a:ext cx="18288000" cy="5654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3018168" y="9721516"/>
            <a:ext cx="5269832" cy="56548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2" name="正方形/長方形 1"/>
          <p:cNvSpPr/>
          <p:nvPr userDrawn="1"/>
        </p:nvSpPr>
        <p:spPr>
          <a:xfrm>
            <a:off x="0" y="0"/>
            <a:ext cx="18288000" cy="146263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正方形/長方形 2"/>
          <p:cNvSpPr/>
          <p:nvPr userDrawn="1"/>
        </p:nvSpPr>
        <p:spPr>
          <a:xfrm>
            <a:off x="1" y="0"/>
            <a:ext cx="388418" cy="146263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0" name="フッター プレースホルダー 9"/>
          <p:cNvSpPr>
            <a:spLocks noGrp="1"/>
          </p:cNvSpPr>
          <p:nvPr>
            <p:ph type="ftr" sz="quarter" idx="3"/>
          </p:nvPr>
        </p:nvSpPr>
        <p:spPr>
          <a:xfrm>
            <a:off x="12115800" y="972151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>
                    <a:lumMod val="9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11" name="スライド番号プレースホルダー 10"/>
          <p:cNvSpPr>
            <a:spLocks noGrp="1"/>
          </p:cNvSpPr>
          <p:nvPr>
            <p:ph type="sldNum" sz="quarter" idx="4"/>
          </p:nvPr>
        </p:nvSpPr>
        <p:spPr>
          <a:xfrm>
            <a:off x="14173200" y="0"/>
            <a:ext cx="4114800" cy="161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0">
                <a:solidFill>
                  <a:schemeClr val="tx1">
                    <a:lumMod val="65000"/>
                    <a:lumOff val="3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52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71" r:id="rId7"/>
    <p:sldLayoutId id="2147483676" r:id="rId8"/>
    <p:sldLayoutId id="2147483677" r:id="rId9"/>
    <p:sldLayoutId id="2147483670" r:id="rId10"/>
    <p:sldLayoutId id="2147483674" r:id="rId11"/>
    <p:sldLayoutId id="2147483675" r:id="rId12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000" kern="1200" baseline="0">
          <a:solidFill>
            <a:schemeClr val="bg1">
              <a:lumMod val="95000"/>
            </a:schemeClr>
          </a:solidFill>
          <a:latin typeface="Bebas Neue Bold" panose="020B0606020202050201" pitchFamily="34" charset="0"/>
          <a:ea typeface="A-OTF Shin Go Pro L" panose="020B0300000000000000" pitchFamily="34" charset="-128"/>
          <a:cs typeface="+mj-cs"/>
        </a:defRPr>
      </a:lvl1pPr>
    </p:titleStyle>
    <p:bodyStyle>
      <a:lvl1pPr marL="0" indent="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None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18636-9983-629C-2A29-58E7E36B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22A263AD-6994-9902-E7E2-FDB37EF66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4" y="2288342"/>
            <a:ext cx="17170945" cy="685331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38115A8-8CE1-AC6D-15A8-B72756F7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7.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D64949-BF31-4068-82F3-927498FD1A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4F8B3D7-B01E-66C8-0A40-222B1A2B4B4B}"/>
              </a:ext>
            </a:extLst>
          </p:cNvPr>
          <p:cNvSpPr/>
          <p:nvPr/>
        </p:nvSpPr>
        <p:spPr>
          <a:xfrm>
            <a:off x="829854" y="42656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629E981-D199-BE2B-CC46-9DCDD8DDDC7A}"/>
              </a:ext>
            </a:extLst>
          </p:cNvPr>
          <p:cNvSpPr/>
          <p:nvPr/>
        </p:nvSpPr>
        <p:spPr>
          <a:xfrm>
            <a:off x="9942025" y="2499974"/>
            <a:ext cx="7823200" cy="26162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スライスは、範囲内に要素がなくてもエラーにならずに空のリストを返す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インデックスは範囲外の要素を指定すると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IndexError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になる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A0E6067-ED4D-279C-47B5-9164DA84086A}"/>
              </a:ext>
            </a:extLst>
          </p:cNvPr>
          <p:cNvSpPr/>
          <p:nvPr/>
        </p:nvSpPr>
        <p:spPr>
          <a:xfrm>
            <a:off x="9942025" y="1811913"/>
            <a:ext cx="3790596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スライスとインデックス</a:t>
            </a: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2F4786D-47F4-BEFB-B1D4-2E828A4D745F}"/>
              </a:ext>
            </a:extLst>
          </p:cNvPr>
          <p:cNvSpPr/>
          <p:nvPr/>
        </p:nvSpPr>
        <p:spPr>
          <a:xfrm>
            <a:off x="2769326" y="5408023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91BE8AF7-86F8-7F76-42E9-D954C013A9D4}"/>
              </a:ext>
            </a:extLst>
          </p:cNvPr>
          <p:cNvSpPr/>
          <p:nvPr/>
        </p:nvSpPr>
        <p:spPr>
          <a:xfrm>
            <a:off x="2769326" y="6426926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ECA54A9A-5686-91F7-FD5F-1CBCAA4A87F4}"/>
              </a:ext>
            </a:extLst>
          </p:cNvPr>
          <p:cNvSpPr/>
          <p:nvPr/>
        </p:nvSpPr>
        <p:spPr>
          <a:xfrm>
            <a:off x="2769326" y="7445829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4BF32B07-0575-CE1C-1FEA-71833642B8BD}"/>
              </a:ext>
            </a:extLst>
          </p:cNvPr>
          <p:cNvSpPr/>
          <p:nvPr/>
        </p:nvSpPr>
        <p:spPr>
          <a:xfrm>
            <a:off x="2769326" y="8464732"/>
            <a:ext cx="535577" cy="248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E2F6409-03DE-82C0-A4F5-83865167DAA9}"/>
              </a:ext>
            </a:extLst>
          </p:cNvPr>
          <p:cNvSpPr txBox="1"/>
          <p:nvPr/>
        </p:nvSpPr>
        <p:spPr>
          <a:xfrm>
            <a:off x="3866606" y="5278204"/>
            <a:ext cx="607089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インデックスで範囲外は指定できない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F6649FD-F731-8E86-53D2-3F05575BDF13}"/>
              </a:ext>
            </a:extLst>
          </p:cNvPr>
          <p:cNvSpPr txBox="1"/>
          <p:nvPr/>
        </p:nvSpPr>
        <p:spPr>
          <a:xfrm>
            <a:off x="3866606" y="6297107"/>
            <a:ext cx="364715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文字列は変更できない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250C063-8586-2F88-D9B4-2F19F51BA493}"/>
              </a:ext>
            </a:extLst>
          </p:cNvPr>
          <p:cNvSpPr txBox="1"/>
          <p:nvPr/>
        </p:nvSpPr>
        <p:spPr>
          <a:xfrm>
            <a:off x="3866606" y="7316010"/>
            <a:ext cx="882164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文字列はインデックスとして使用できない（整数のみ）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43C176-FE0E-C8AB-E138-42A11A4D4A24}"/>
              </a:ext>
            </a:extLst>
          </p:cNvPr>
          <p:cNvSpPr txBox="1"/>
          <p:nvPr/>
        </p:nvSpPr>
        <p:spPr>
          <a:xfrm>
            <a:off x="3866606" y="8293381"/>
            <a:ext cx="523572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という変数が定義されていない</a:t>
            </a:r>
          </a:p>
        </p:txBody>
      </p:sp>
    </p:spTree>
    <p:extLst>
      <p:ext uri="{BB962C8B-B14F-4D97-AF65-F5344CB8AC3E}">
        <p14:creationId xmlns:p14="http://schemas.microsoft.com/office/powerpoint/2010/main" val="392665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29F27-2984-2B14-D450-DA6C4C7B1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F49992-B1B7-3B4B-8B64-82ACAD725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35824"/>
            <a:ext cx="15356443" cy="799259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F9301700-BC12-DFF6-8907-C7DB9062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E4B284-99D9-8FC6-F18F-CE615B6447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B72B271-B1BE-709D-1A63-B9A726D5A4B2}"/>
              </a:ext>
            </a:extLst>
          </p:cNvPr>
          <p:cNvSpPr/>
          <p:nvPr/>
        </p:nvSpPr>
        <p:spPr>
          <a:xfrm>
            <a:off x="766354" y="79994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DA1BE49-4288-8F03-F4B0-CB438C56CE4C}"/>
              </a:ext>
            </a:extLst>
          </p:cNvPr>
          <p:cNvSpPr/>
          <p:nvPr/>
        </p:nvSpPr>
        <p:spPr>
          <a:xfrm>
            <a:off x="9942025" y="2499974"/>
            <a:ext cx="7823200" cy="26162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months</a:t>
            </a:r>
            <a:r>
              <a:rPr kumimoji="1" lang="en-US" altLang="ja-JP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[:] </a:t>
            </a:r>
            <a:r>
              <a:rPr kumimoji="1" lang="ja-JP" altLang="en-US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はリストのコピー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なので、ループは最初の状態を基準に進む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insert(0, ...)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は先頭に要素を入れる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はどんどん先頭に追加していく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AD2F5E1-7E68-F035-A2FA-E6AB55DC0D18}"/>
              </a:ext>
            </a:extLst>
          </p:cNvPr>
          <p:cNvSpPr/>
          <p:nvPr/>
        </p:nvSpPr>
        <p:spPr>
          <a:xfrm>
            <a:off x="9942025" y="1811913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ポイントのまとめ</a:t>
            </a:r>
          </a:p>
        </p:txBody>
      </p:sp>
    </p:spTree>
    <p:extLst>
      <p:ext uri="{BB962C8B-B14F-4D97-AF65-F5344CB8AC3E}">
        <p14:creationId xmlns:p14="http://schemas.microsoft.com/office/powerpoint/2010/main" val="331589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8C110-4DBF-D01D-7B74-BA4554E7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4CCB239-4C28-9906-A986-232B117D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35824"/>
            <a:ext cx="15356443" cy="799259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30EEE91C-D295-DBB0-73C4-B8590D431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78E5FE4-0A33-E1BE-9A12-7F5A479145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0CA9EDE-1EC7-549F-84FD-4910ECBAEF26}"/>
              </a:ext>
            </a:extLst>
          </p:cNvPr>
          <p:cNvSpPr/>
          <p:nvPr/>
        </p:nvSpPr>
        <p:spPr>
          <a:xfrm>
            <a:off x="766354" y="79994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0C20E6-28B6-4567-EDBF-1CBB062EC556}"/>
              </a:ext>
            </a:extLst>
          </p:cNvPr>
          <p:cNvSpPr/>
          <p:nvPr/>
        </p:nvSpPr>
        <p:spPr>
          <a:xfrm>
            <a:off x="9942025" y="2499974"/>
            <a:ext cx="7823200" cy="26162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months</a:t>
            </a:r>
            <a:r>
              <a:rPr kumimoji="1" lang="en-US" altLang="ja-JP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[:] </a:t>
            </a:r>
            <a:r>
              <a:rPr kumimoji="1" lang="ja-JP" altLang="en-US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はリストのコピー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なので、ループは最初の状態を基準に進む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insert(0, ...)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は先頭に要素を入れる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insert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はどんどん先頭に追加していく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0E4523D-ABBD-F216-73EE-3DCC4861196F}"/>
              </a:ext>
            </a:extLst>
          </p:cNvPr>
          <p:cNvSpPr/>
          <p:nvPr/>
        </p:nvSpPr>
        <p:spPr>
          <a:xfrm>
            <a:off x="9942025" y="1811913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ポイントのまとめ</a:t>
            </a:r>
          </a:p>
        </p:txBody>
      </p:sp>
    </p:spTree>
    <p:extLst>
      <p:ext uri="{BB962C8B-B14F-4D97-AF65-F5344CB8AC3E}">
        <p14:creationId xmlns:p14="http://schemas.microsoft.com/office/powerpoint/2010/main" val="3433344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FFF8-8EFD-7508-8714-9049F19A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0175E79-BB46-EDE3-8BDC-DFF326F50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35824"/>
            <a:ext cx="15356443" cy="799259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25F9E91-B013-F189-EABE-B39204110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3ED79D8-BD89-42E9-CB88-DBA0D5C489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E8F25062-2232-3845-4A7F-3A58C6DF8586}"/>
              </a:ext>
            </a:extLst>
          </p:cNvPr>
          <p:cNvSpPr/>
          <p:nvPr/>
        </p:nvSpPr>
        <p:spPr>
          <a:xfrm>
            <a:off x="766354" y="7999440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12412668-E98F-C66B-7ED5-4B304C338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100762"/>
              </p:ext>
            </p:extLst>
          </p:nvPr>
        </p:nvGraphicFramePr>
        <p:xfrm>
          <a:off x="5165558" y="1807094"/>
          <a:ext cx="13004131" cy="7914422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99513">
                  <a:extLst>
                    <a:ext uri="{9D8B030D-6E8A-4147-A177-3AD203B41FA5}">
                      <a16:colId xmlns:a16="http://schemas.microsoft.com/office/drawing/2014/main" val="630768620"/>
                    </a:ext>
                  </a:extLst>
                </a:gridCol>
                <a:gridCol w="1302327">
                  <a:extLst>
                    <a:ext uri="{9D8B030D-6E8A-4147-A177-3AD203B41FA5}">
                      <a16:colId xmlns:a16="http://schemas.microsoft.com/office/drawing/2014/main" val="3833500087"/>
                    </a:ext>
                  </a:extLst>
                </a:gridCol>
                <a:gridCol w="1801091">
                  <a:extLst>
                    <a:ext uri="{9D8B030D-6E8A-4147-A177-3AD203B41FA5}">
                      <a16:colId xmlns:a16="http://schemas.microsoft.com/office/drawing/2014/main" val="2449989043"/>
                    </a:ext>
                  </a:extLst>
                </a:gridCol>
                <a:gridCol w="4987636">
                  <a:extLst>
                    <a:ext uri="{9D8B030D-6E8A-4147-A177-3AD203B41FA5}">
                      <a16:colId xmlns:a16="http://schemas.microsoft.com/office/drawing/2014/main" val="1914797381"/>
                    </a:ext>
                  </a:extLst>
                </a:gridCol>
                <a:gridCol w="4613564">
                  <a:extLst>
                    <a:ext uri="{9D8B030D-6E8A-4147-A177-3AD203B41FA5}">
                      <a16:colId xmlns:a16="http://schemas.microsoft.com/office/drawing/2014/main" val="1535945393"/>
                    </a:ext>
                  </a:extLst>
                </a:gridCol>
              </a:tblGrid>
              <a:tr h="10185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ループ</a:t>
                      </a:r>
                      <a:endParaRPr lang="en-US" altLang="ja-JP" sz="2300" dirty="0"/>
                    </a:p>
                    <a:p>
                      <a:pPr algn="ctr">
                        <a:buNone/>
                      </a:pPr>
                      <a:r>
                        <a:rPr lang="ja-JP" altLang="en-US" sz="2300" dirty="0"/>
                        <a:t>回数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300"/>
                        <a:t>f </a:t>
                      </a:r>
                      <a:r>
                        <a:rPr lang="ja-JP" altLang="en-US" sz="2300"/>
                        <a:t>の値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判定 </a:t>
                      </a:r>
                      <a:endParaRPr lang="en-US" altLang="ja-JP" sz="2300" dirty="0"/>
                    </a:p>
                    <a:p>
                      <a:pPr algn="ctr">
                        <a:buNone/>
                      </a:pPr>
                      <a:r>
                        <a:rPr lang="en-US" altLang="ja-JP" sz="2300" dirty="0"/>
                        <a:t>(</a:t>
                      </a:r>
                      <a:r>
                        <a:rPr lang="en-US" sz="2300" dirty="0" err="1"/>
                        <a:t>len</a:t>
                      </a:r>
                      <a:r>
                        <a:rPr lang="en-US" sz="2300" dirty="0"/>
                        <a:t>(f)&lt;5)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実行内容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ループ後の </a:t>
                      </a:r>
                      <a:r>
                        <a:rPr lang="en-US" sz="2300" dirty="0"/>
                        <a:t>fruits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3748431"/>
                  </a:ext>
                </a:extLst>
              </a:tr>
              <a:tr h="8113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1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/>
                        <a:t>'apple'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5</a:t>
                      </a:r>
                      <a:r>
                        <a:rPr lang="ja-JP" altLang="en-US" sz="2300" dirty="0"/>
                        <a:t>文字 → ✖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/>
                        <a:t>何もしない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['apple', 'kiwi', 'plum']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15742"/>
                  </a:ext>
                </a:extLst>
              </a:tr>
              <a:tr h="26368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2</a:t>
                      </a:r>
                      <a:endParaRPr lang="ja-JP" altLang="en-US" sz="2300" b="1" dirty="0"/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/>
                        <a:t>'kiwi'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4</a:t>
                      </a:r>
                      <a:r>
                        <a:rPr lang="ja-JP" altLang="en-US" sz="2300" dirty="0"/>
                        <a:t>文字 → ○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 dirty="0"/>
                        <a:t>先頭に </a:t>
                      </a:r>
                      <a:r>
                        <a:rPr lang="en-US" altLang="ja-JP" sz="2300" dirty="0"/>
                        <a:t>'</a:t>
                      </a:r>
                      <a:r>
                        <a:rPr lang="en-US" sz="2300" dirty="0"/>
                        <a:t>kiwi' </a:t>
                      </a:r>
                      <a:r>
                        <a:rPr lang="ja-JP" altLang="en-US" sz="2300" dirty="0"/>
                        <a:t>を追加 →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kiwi','apple','kiwi','plum</a:t>
                      </a:r>
                      <a:r>
                        <a:rPr lang="en-US" sz="2300" dirty="0"/>
                        <a:t>’]</a:t>
                      </a:r>
                    </a:p>
                    <a:p>
                      <a:pPr>
                        <a:buNone/>
                      </a:pP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末尾を削除 →</a:t>
                      </a: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kiwi','apple','kiwi</a:t>
                      </a:r>
                      <a:r>
                        <a:rPr lang="en-US" sz="2300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['kiwi', 'apple', 'kiwi']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236016"/>
                  </a:ext>
                </a:extLst>
              </a:tr>
              <a:tr h="26368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3</a:t>
                      </a:r>
                      <a:endParaRPr lang="ja-JP" altLang="en-US" sz="2300" b="1" dirty="0"/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'plum'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4</a:t>
                      </a:r>
                      <a:r>
                        <a:rPr lang="ja-JP" altLang="en-US" sz="2300" dirty="0"/>
                        <a:t>文字 → ○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 dirty="0"/>
                        <a:t>先頭に </a:t>
                      </a:r>
                      <a:r>
                        <a:rPr lang="en-US" altLang="ja-JP" sz="2300" dirty="0"/>
                        <a:t>'</a:t>
                      </a:r>
                      <a:r>
                        <a:rPr lang="en-US" sz="2300" dirty="0"/>
                        <a:t>plum' </a:t>
                      </a:r>
                      <a:r>
                        <a:rPr lang="ja-JP" altLang="en-US" sz="2300" dirty="0"/>
                        <a:t>を追加 →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plum','kiwi','apple','kiwi</a:t>
                      </a:r>
                      <a:r>
                        <a:rPr lang="en-US" sz="2300" dirty="0"/>
                        <a:t>’]</a:t>
                      </a:r>
                    </a:p>
                    <a:p>
                      <a:pPr>
                        <a:buNone/>
                      </a:pP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末尾を削除 →</a:t>
                      </a: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plum','kiwi','apple</a:t>
                      </a:r>
                      <a:r>
                        <a:rPr lang="en-US" sz="2300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['</a:t>
                      </a:r>
                      <a:r>
                        <a:rPr lang="en-US" sz="2400" b="1" dirty="0" err="1"/>
                        <a:t>plum','kiwi','apple</a:t>
                      </a:r>
                      <a:r>
                        <a:rPr lang="en-US" sz="2400" b="1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6449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180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8F88E-2927-364E-1079-CA3634AF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606DDA0-9789-02C9-CF8C-737E1700B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" y="1547280"/>
            <a:ext cx="13203493" cy="623974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BB4E379-990A-B520-B725-FBF51C44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10.for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379AB1C-6342-72A0-E223-2464CE0CD4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E33E5DE-1F8F-46CE-8F92-FC0C70B92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613" y="5611534"/>
            <a:ext cx="13165387" cy="3991532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07E169EC-55C5-3AF6-A823-5FD2EDA320BE}"/>
              </a:ext>
            </a:extLst>
          </p:cNvPr>
          <p:cNvSpPr/>
          <p:nvPr/>
        </p:nvSpPr>
        <p:spPr>
          <a:xfrm>
            <a:off x="5287554" y="8972007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EB6642C-9653-4A06-3DA5-E13D16364285}"/>
              </a:ext>
            </a:extLst>
          </p:cNvPr>
          <p:cNvSpPr/>
          <p:nvPr/>
        </p:nvSpPr>
        <p:spPr>
          <a:xfrm>
            <a:off x="9942025" y="4166477"/>
            <a:ext cx="7823200" cy="196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提示されたコードは、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から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9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までの数字が素数であるか、または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つの数の積で表せるかを判定し、その結果を出力するものです。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178A107-910C-DA50-5F75-67441BC382ED}"/>
              </a:ext>
            </a:extLst>
          </p:cNvPr>
          <p:cNvSpPr/>
          <p:nvPr/>
        </p:nvSpPr>
        <p:spPr>
          <a:xfrm>
            <a:off x="9942025" y="3496921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</a:t>
            </a:r>
          </a:p>
        </p:txBody>
      </p:sp>
    </p:spTree>
    <p:extLst>
      <p:ext uri="{BB962C8B-B14F-4D97-AF65-F5344CB8AC3E}">
        <p14:creationId xmlns:p14="http://schemas.microsoft.com/office/powerpoint/2010/main" val="3365587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B245D-9E93-2681-D964-0741FD88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543DFE0-B58B-7F0E-CA9B-B83139DB6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" y="1547280"/>
            <a:ext cx="13203493" cy="623974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8B95AEC-F3E4-6EAB-6498-DBCAFE199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10.for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6AD80F-5BBB-109B-BB08-CCA992698A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D9F0CC2-00D2-57DE-1A06-2C2E63DE82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370"/>
          <a:stretch>
            <a:fillRect/>
          </a:stretch>
        </p:blipFill>
        <p:spPr>
          <a:xfrm>
            <a:off x="395953" y="8216037"/>
            <a:ext cx="13165387" cy="863346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C44F8D26-91BA-3E3E-4275-703EB5F7FB02}"/>
              </a:ext>
            </a:extLst>
          </p:cNvPr>
          <p:cNvSpPr/>
          <p:nvPr/>
        </p:nvSpPr>
        <p:spPr>
          <a:xfrm>
            <a:off x="560894" y="8448324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5DABB2C-F4D9-F9DF-5823-37378289200A}"/>
              </a:ext>
            </a:extLst>
          </p:cNvPr>
          <p:cNvSpPr/>
          <p:nvPr/>
        </p:nvSpPr>
        <p:spPr>
          <a:xfrm>
            <a:off x="10068847" y="2901735"/>
            <a:ext cx="7823200" cy="30626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if n % x == 0: → n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が割り切れるとき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例えば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n=4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4 % 2 == 0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が成り立つので</a:t>
            </a:r>
          </a:p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print("4 equals 2 * 2")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この後にさらに調べる必要はないので、ループを抜ける必要があります。</a:t>
            </a:r>
            <a:endParaRPr kumimoji="1" lang="en-US" altLang="ja-JP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ここで入るのは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break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2772D6A-268F-77F9-4F65-B9CA828E8EC3}"/>
              </a:ext>
            </a:extLst>
          </p:cNvPr>
          <p:cNvSpPr/>
          <p:nvPr/>
        </p:nvSpPr>
        <p:spPr>
          <a:xfrm>
            <a:off x="10068847" y="2352885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ポイント①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475EEF-EEEB-858B-1799-D224D0AD4330}"/>
              </a:ext>
            </a:extLst>
          </p:cNvPr>
          <p:cNvSpPr/>
          <p:nvPr/>
        </p:nvSpPr>
        <p:spPr>
          <a:xfrm>
            <a:off x="10068847" y="6870401"/>
            <a:ext cx="7823200" cy="27842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 x in range(2, n)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のループで一度も割り切れなかった場合 </a:t>
            </a:r>
            <a:endParaRPr kumimoji="1" lang="en-US" altLang="ja-JP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素数。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 ... else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という特別な構文があります。</a:t>
            </a:r>
          </a:p>
          <a:p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ループを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break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せずに最後まで回ったときに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else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部分が実行される。</a:t>
            </a:r>
          </a:p>
          <a:p>
            <a:endParaRPr kumimoji="1" lang="ja-JP" altLang="en-US" sz="20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b="1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→ここで入るのは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else: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908DA26-CF64-8EFC-1795-9D06C51DAB66}"/>
              </a:ext>
            </a:extLst>
          </p:cNvPr>
          <p:cNvSpPr/>
          <p:nvPr/>
        </p:nvSpPr>
        <p:spPr>
          <a:xfrm>
            <a:off x="10068847" y="6182340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ポイント②</a:t>
            </a:r>
          </a:p>
        </p:txBody>
      </p:sp>
    </p:spTree>
    <p:extLst>
      <p:ext uri="{BB962C8B-B14F-4D97-AF65-F5344CB8AC3E}">
        <p14:creationId xmlns:p14="http://schemas.microsoft.com/office/powerpoint/2010/main" val="4188499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2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2CF1-9648-1F49-9DB5-B9992A7CC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ED4C44A1-3EC7-2B04-F9C1-E2531974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94" y="1462188"/>
            <a:ext cx="13355914" cy="8259328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ECCFC00D-F994-FA00-50A2-42FE5156B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インデックスと要素の取得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90D91-2FD2-9539-F9B8-1908434051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ACE8D5D-1114-4738-70A5-E19FBFE79415}"/>
              </a:ext>
            </a:extLst>
          </p:cNvPr>
          <p:cNvSpPr/>
          <p:nvPr/>
        </p:nvSpPr>
        <p:spPr>
          <a:xfrm>
            <a:off x="713294" y="5921024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2CE0412-F971-3C5F-7092-996CA2A2299C}"/>
              </a:ext>
            </a:extLst>
          </p:cNvPr>
          <p:cNvSpPr/>
          <p:nvPr/>
        </p:nvSpPr>
        <p:spPr>
          <a:xfrm>
            <a:off x="5156200" y="2839384"/>
            <a:ext cx="12609025" cy="54256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1. 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range(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len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(Zen)) </a:t>
            </a:r>
            <a:r>
              <a:rPr kumimoji="1" lang="ja-JP" altLang="en-US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の意味</a:t>
            </a:r>
          </a:p>
          <a:p>
            <a:r>
              <a:rPr kumimoji="1" lang="en-US" altLang="ja-JP" sz="2800" dirty="0" err="1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len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(Zen)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はリスト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Zen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の長さ（要素数）を返します。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今回の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Zen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['Now', 'is', 'better', 'than', 'never']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なので、</a:t>
            </a:r>
            <a:r>
              <a:rPr kumimoji="1" lang="en-US" altLang="ja-JP" sz="2800" dirty="0" err="1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len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(Zen) = 5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です。</a:t>
            </a:r>
          </a:p>
          <a:p>
            <a:endParaRPr kumimoji="1" lang="ja-JP" altLang="en-US" sz="28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range(5)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から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までの整数を順に生成する関数です。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0, 1, 2, 3, 4 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が順番に取り出せます。</a:t>
            </a:r>
          </a:p>
          <a:p>
            <a:endParaRPr kumimoji="1" lang="ja-JP" altLang="en-US" sz="2800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2. 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for 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i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 in range(</a:t>
            </a:r>
            <a:r>
              <a:rPr kumimoji="1" lang="en-US" altLang="ja-JP" sz="3200" dirty="0" err="1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len</a:t>
            </a:r>
            <a:r>
              <a:rPr kumimoji="1" lang="en-US" altLang="ja-JP" sz="3200" dirty="0">
                <a:solidFill>
                  <a:schemeClr val="tx1"/>
                </a:solidFill>
                <a:highlight>
                  <a:srgbClr val="FFFFFF"/>
                </a:highlight>
                <a:latin typeface="+mn-ea"/>
              </a:rPr>
              <a:t>(Zen)): </a:t>
            </a:r>
            <a:r>
              <a:rPr kumimoji="1" lang="ja-JP" altLang="en-US" sz="28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の動き</a:t>
            </a:r>
          </a:p>
          <a:p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この行は</a:t>
            </a:r>
            <a:r>
              <a:rPr kumimoji="1" lang="en-US" altLang="ja-JP" sz="28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0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から</a:t>
            </a:r>
            <a:r>
              <a:rPr kumimoji="1" lang="en-US" altLang="ja-JP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  <a:r>
              <a:rPr kumimoji="1" lang="ja-JP" altLang="en-US" sz="28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までの数字を順に代入しながら繰り返す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という意味です。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F8F20B-4871-6762-F4F0-438D78CCF519}"/>
              </a:ext>
            </a:extLst>
          </p:cNvPr>
          <p:cNvSpPr/>
          <p:nvPr/>
        </p:nvSpPr>
        <p:spPr>
          <a:xfrm>
            <a:off x="5156200" y="2204484"/>
            <a:ext cx="2847931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コードの動き</a:t>
            </a:r>
          </a:p>
        </p:txBody>
      </p:sp>
    </p:spTree>
    <p:extLst>
      <p:ext uri="{BB962C8B-B14F-4D97-AF65-F5344CB8AC3E}">
        <p14:creationId xmlns:p14="http://schemas.microsoft.com/office/powerpoint/2010/main" val="958162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859E-FFC5-346A-2CEE-D7BE3677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7860C3B-F95D-FD36-7D42-00EA1C21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BC2A0DD-2AF9-A423-07BE-DF833AD8A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C74305-D766-F776-CFD3-D11DAA427E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021938-3117-7251-8F61-013C6987D647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E80DFD3-0FD1-40F5-6E12-51E75A6E79E0}"/>
              </a:ext>
            </a:extLst>
          </p:cNvPr>
          <p:cNvSpPr/>
          <p:nvPr/>
        </p:nvSpPr>
        <p:spPr>
          <a:xfrm>
            <a:off x="598975" y="3908682"/>
            <a:ext cx="4849325" cy="102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00132F1-09DE-7AF1-E263-78C53AC36BE0}"/>
              </a:ext>
            </a:extLst>
          </p:cNvPr>
          <p:cNvCxnSpPr>
            <a:cxnSpLocks/>
          </p:cNvCxnSpPr>
          <p:nvPr/>
        </p:nvCxnSpPr>
        <p:spPr>
          <a:xfrm flipH="1">
            <a:off x="5675860" y="3828515"/>
            <a:ext cx="2219911" cy="533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2476596-6BE5-4F82-23E0-902EBD51A9B9}"/>
              </a:ext>
            </a:extLst>
          </p:cNvPr>
          <p:cNvSpPr/>
          <p:nvPr/>
        </p:nvSpPr>
        <p:spPr>
          <a:xfrm>
            <a:off x="8088823" y="3367350"/>
            <a:ext cx="2488470" cy="533400"/>
          </a:xfrm>
          <a:prstGeom prst="rect">
            <a:avLst/>
          </a:prstGeom>
          <a:solidFill>
            <a:srgbClr val="1F1F1F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通常の</a:t>
            </a:r>
            <a:r>
              <a:rPr kumimoji="1" lang="en-US" altLang="ja-JP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for</a:t>
            </a:r>
            <a:r>
              <a:rPr kumimoji="1" lang="ja-JP" altLang="en-US" sz="28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文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CF0DB0F-453D-8D3F-B7B5-0739A6688439}"/>
              </a:ext>
            </a:extLst>
          </p:cNvPr>
          <p:cNvSpPr/>
          <p:nvPr/>
        </p:nvSpPr>
        <p:spPr>
          <a:xfrm>
            <a:off x="8103337" y="3900750"/>
            <a:ext cx="10042148" cy="4212911"/>
          </a:xfrm>
          <a:prstGeom prst="rect">
            <a:avLst/>
          </a:prstGeom>
          <a:solidFill>
            <a:srgbClr val="1F1F1F"/>
          </a:solidFill>
          <a:ln w="38100">
            <a:solidFill>
              <a:srgbClr val="1F1F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879758F-7354-764E-61A5-7F6847C52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437" y="4140044"/>
            <a:ext cx="8773749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04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408CC-B15F-3EAA-9A86-8C400C5A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FC02DC1-1174-F17E-7701-4849CBCB9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4BE32417-D3B8-8A25-7E2E-C59AA528A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DF367DB-24B9-97C8-D1F1-A385FA99CC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A9D9DF9-1265-92A3-1C59-6AEE650CE329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B397F03-0587-BFDD-5047-6F1D1B545704}"/>
              </a:ext>
            </a:extLst>
          </p:cNvPr>
          <p:cNvSpPr/>
          <p:nvPr/>
        </p:nvSpPr>
        <p:spPr>
          <a:xfrm>
            <a:off x="598975" y="4305300"/>
            <a:ext cx="4849325" cy="266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1078629-329D-ABAF-FAB6-9709EBE87D3C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5689600" y="3634050"/>
            <a:ext cx="2413737" cy="7944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C5F225F-647E-A4C8-066E-9C4C786A49BA}"/>
              </a:ext>
            </a:extLst>
          </p:cNvPr>
          <p:cNvSpPr/>
          <p:nvPr/>
        </p:nvSpPr>
        <p:spPr>
          <a:xfrm>
            <a:off x="8103337" y="3367350"/>
            <a:ext cx="5334258" cy="533400"/>
          </a:xfrm>
          <a:prstGeom prst="rect">
            <a:avLst/>
          </a:prstGeom>
          <a:solidFill>
            <a:srgbClr val="FF00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なにをしているコード？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057E3CB-7497-E292-5E36-0BCC4815CCEA}"/>
              </a:ext>
            </a:extLst>
          </p:cNvPr>
          <p:cNvSpPr/>
          <p:nvPr/>
        </p:nvSpPr>
        <p:spPr>
          <a:xfrm>
            <a:off x="8103337" y="3900750"/>
            <a:ext cx="10042148" cy="509762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行列の転置（行と列を入れ替える）をしている処理です。</a:t>
            </a:r>
          </a:p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つまり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…</a:t>
            </a:r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=0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[row[0] for row in matrix] → [1, 4, 8]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=1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[row[1] for row in matrix] → [3, 9, 27]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800" dirty="0" err="1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8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=2 </a:t>
            </a:r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のとき、</a:t>
            </a:r>
            <a:r>
              <a:rPr kumimoji="1" lang="en-US" altLang="ja-JP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[row[2] for row in matrix] → [5, 25, 125]</a:t>
            </a:r>
          </a:p>
          <a:p>
            <a:endParaRPr kumimoji="1" lang="en-US" altLang="ja-JP" sz="28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これをリストにまとめている</a:t>
            </a:r>
          </a:p>
        </p:txBody>
      </p:sp>
    </p:spTree>
    <p:extLst>
      <p:ext uri="{BB962C8B-B14F-4D97-AF65-F5344CB8AC3E}">
        <p14:creationId xmlns:p14="http://schemas.microsoft.com/office/powerpoint/2010/main" val="1996087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DAA7-F449-7DAB-51BF-3A7A5899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9DEEB4C-B2C6-B161-F80E-43724F03D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46056"/>
            <a:ext cx="14645647" cy="770114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34EE9D9F-1B05-875A-CDE6-3900C7CFE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とアンパック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48C3B8-E8CE-66BA-7D60-55EB77F885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D92B4DC-01BA-ED89-225B-391BFEFADACF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54B988-C855-EA8B-D217-992AF03D5F21}"/>
              </a:ext>
            </a:extLst>
          </p:cNvPr>
          <p:cNvSpPr txBox="1"/>
          <p:nvPr/>
        </p:nvSpPr>
        <p:spPr>
          <a:xfrm>
            <a:off x="6299200" y="2956807"/>
            <a:ext cx="11288668" cy="1433777"/>
          </a:xfrm>
          <a:prstGeom prst="rect">
            <a:avLst/>
          </a:prstGeom>
          <a:solidFill>
            <a:srgbClr val="1F1F1F"/>
          </a:solidFill>
        </p:spPr>
        <p:txBody>
          <a:bodyPr wrap="none" rtlCol="0" anchor="ctr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*</a:t>
            </a:r>
            <a:r>
              <a:rPr kumimoji="1" lang="en-US" altLang="ja-JP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matrix </a:t>
            </a:r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があると → 「列ごと」になる（転置の形）</a:t>
            </a:r>
          </a:p>
          <a:p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 </a:t>
            </a:r>
            <a:r>
              <a:rPr kumimoji="1" lang="en-US" altLang="ja-JP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matrix </a:t>
            </a:r>
            <a:r>
              <a:rPr kumimoji="1" lang="ja-JP" altLang="en-US" sz="3200" b="1" dirty="0">
                <a:solidFill>
                  <a:schemeClr val="bg1"/>
                </a:solidFill>
                <a:latin typeface="+mj-lt"/>
                <a:ea typeface="A-OTF Shin Go Pro L" panose="020B0300000000000000" pitchFamily="34" charset="-128"/>
              </a:rPr>
              <a:t>のみだと → 「行ごと」になる（一要素タプル化）</a:t>
            </a:r>
          </a:p>
        </p:txBody>
      </p:sp>
    </p:spTree>
    <p:extLst>
      <p:ext uri="{BB962C8B-B14F-4D97-AF65-F5344CB8AC3E}">
        <p14:creationId xmlns:p14="http://schemas.microsoft.com/office/powerpoint/2010/main" val="3881868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BBBCF-6B05-9D74-EC7C-5A575E57D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4EFC323A-7E68-8CC9-791B-3EBC2B1FF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77CACBC-0A10-F3A1-A881-430901C030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3D131AB-BC46-0BDC-3DB4-EF8156B8559F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47B9161-3EC1-C43E-77EF-D11431B79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C3830470-C6EF-DC01-66B1-26020BDDB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F2CFC3D-7FC7-25B1-2DD1-DCC2CB747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40B8C608-A5C5-4C2E-7BC3-76876452D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64907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45A44A6-796F-79A1-E488-ADF7A0EFD8E1}"/>
              </a:ext>
            </a:extLst>
          </p:cNvPr>
          <p:cNvSpPr/>
          <p:nvPr/>
        </p:nvSpPr>
        <p:spPr>
          <a:xfrm>
            <a:off x="948244" y="3200400"/>
            <a:ext cx="512256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A220CB3-4358-F534-F820-53E03C6EB65C}"/>
              </a:ext>
            </a:extLst>
          </p:cNvPr>
          <p:cNvSpPr/>
          <p:nvPr/>
        </p:nvSpPr>
        <p:spPr>
          <a:xfrm>
            <a:off x="1581552" y="4575645"/>
            <a:ext cx="998241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DE282AB-F8FE-7BDE-A31F-237D03D3BEB9}"/>
              </a:ext>
            </a:extLst>
          </p:cNvPr>
          <p:cNvSpPr/>
          <p:nvPr/>
        </p:nvSpPr>
        <p:spPr>
          <a:xfrm>
            <a:off x="1918056" y="2869531"/>
            <a:ext cx="998241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38945112-408A-37AD-3768-7C8583FBF45F}"/>
              </a:ext>
            </a:extLst>
          </p:cNvPr>
          <p:cNvSpPr/>
          <p:nvPr/>
        </p:nvSpPr>
        <p:spPr>
          <a:xfrm>
            <a:off x="3141224" y="2831431"/>
            <a:ext cx="1645733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77C6118-DE0B-4DEE-EC58-74343E1140FF}"/>
              </a:ext>
            </a:extLst>
          </p:cNvPr>
          <p:cNvSpPr txBox="1"/>
          <p:nvPr/>
        </p:nvSpPr>
        <p:spPr>
          <a:xfrm>
            <a:off x="4870934" y="2627943"/>
            <a:ext cx="9257663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独自の例外クラス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を作るときに、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の標準例外クラス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基にしているので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と同じように例外処理で使える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477C3825-730C-B84C-72D5-B0E10650B95E}"/>
              </a:ext>
            </a:extLst>
          </p:cNvPr>
          <p:cNvSpPr/>
          <p:nvPr/>
        </p:nvSpPr>
        <p:spPr>
          <a:xfrm rot="444994">
            <a:off x="1623006" y="3442938"/>
            <a:ext cx="3205405" cy="216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81EE7CB-DE78-0F5A-4E64-175976A9E31C}"/>
              </a:ext>
            </a:extLst>
          </p:cNvPr>
          <p:cNvSpPr txBox="1"/>
          <p:nvPr/>
        </p:nvSpPr>
        <p:spPr>
          <a:xfrm>
            <a:off x="4870935" y="3579288"/>
            <a:ext cx="7943366" cy="22467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Python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では、クラスや関数を定義したら必ずそのブロックの中に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何か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行以上書く必要があります。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でも、この場合は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Exception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を継承するだけで、</a:t>
            </a:r>
            <a:endParaRPr kumimoji="1" lang="en-US" altLang="ja-JP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新しいメソッドや変数を追加していません。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そこで何も処理しないことを明示するために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pass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を書いています。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541DEF6-4CA8-A18D-227A-8430C197C5DF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00AECF32-C14C-615C-DED7-C6A70C0F3667}"/>
              </a:ext>
            </a:extLst>
          </p:cNvPr>
          <p:cNvSpPr/>
          <p:nvPr/>
        </p:nvSpPr>
        <p:spPr>
          <a:xfrm rot="2566139">
            <a:off x="2252603" y="5895948"/>
            <a:ext cx="2832844" cy="216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A94B202-D1EF-6D47-45D1-985F22E15A48}"/>
              </a:ext>
            </a:extLst>
          </p:cNvPr>
          <p:cNvSpPr txBox="1"/>
          <p:nvPr/>
        </p:nvSpPr>
        <p:spPr>
          <a:xfrm>
            <a:off x="4870935" y="6380571"/>
            <a:ext cx="7943366" cy="22467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bg1"/>
                </a:solidFill>
                <a:highlight>
                  <a:srgbClr val="FF0000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name: int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関数の引数の型アノテーション（型ヒント） です。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int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型（整数型）であるべき」という意味を示しています。</a:t>
            </a:r>
          </a:p>
          <a:p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これは実行時に動作に影響を与えるわけではなく、あくまで読みやすさや静的解析のための情報です。</a:t>
            </a:r>
          </a:p>
        </p:txBody>
      </p:sp>
    </p:spTree>
    <p:extLst>
      <p:ext uri="{BB962C8B-B14F-4D97-AF65-F5344CB8AC3E}">
        <p14:creationId xmlns:p14="http://schemas.microsoft.com/office/powerpoint/2010/main" val="299387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7755-8B36-B699-F397-A235A976E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C0721861-4BAE-DEE1-BD0B-46A4F45E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73A01A7-B654-1D5F-554F-0372E03161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6BAFC0E-7DC4-2255-5856-CEE96A3C4D78}"/>
              </a:ext>
            </a:extLst>
          </p:cNvPr>
          <p:cNvSpPr/>
          <p:nvPr/>
        </p:nvSpPr>
        <p:spPr>
          <a:xfrm>
            <a:off x="764094" y="5210342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D3FE52C5-2369-EC97-E27D-589155AF9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20D77DF-A7B3-D760-A6C0-D71AB2EC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99E2523-3C29-A5D0-1A04-77C271B24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7031489-209F-1C00-C5AA-06622D387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7835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4EED16-CE60-8626-238A-D32CEECA2D44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F4360A10-0C02-E162-1161-D05C011ACF94}"/>
              </a:ext>
            </a:extLst>
          </p:cNvPr>
          <p:cNvCxnSpPr>
            <a:cxnSpLocks/>
          </p:cNvCxnSpPr>
          <p:nvPr/>
        </p:nvCxnSpPr>
        <p:spPr>
          <a:xfrm>
            <a:off x="1282700" y="9105900"/>
            <a:ext cx="1181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452A862-18CB-823A-A74D-90F7B97F31DF}"/>
              </a:ext>
            </a:extLst>
          </p:cNvPr>
          <p:cNvSpPr txBox="1"/>
          <p:nvPr/>
        </p:nvSpPr>
        <p:spPr>
          <a:xfrm>
            <a:off x="2618361" y="8724964"/>
            <a:ext cx="3172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func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(name)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を呼ぶ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77AE580-3D0F-26CE-A36E-4B840C5F7BFB}"/>
              </a:ext>
            </a:extLst>
          </p:cNvPr>
          <p:cNvSpPr txBox="1"/>
          <p:nvPr/>
        </p:nvSpPr>
        <p:spPr>
          <a:xfrm>
            <a:off x="2173861" y="3805757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’David’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79BA293C-0C12-4581-A63D-D7DF38B627BF}"/>
              </a:ext>
            </a:extLst>
          </p:cNvPr>
          <p:cNvCxnSpPr>
            <a:cxnSpLocks/>
          </p:cNvCxnSpPr>
          <p:nvPr/>
        </p:nvCxnSpPr>
        <p:spPr>
          <a:xfrm>
            <a:off x="692150" y="4152900"/>
            <a:ext cx="148171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06636998-D6EE-888F-1C0D-F83EDAB5F8F5}"/>
              </a:ext>
            </a:extLst>
          </p:cNvPr>
          <p:cNvCxnSpPr>
            <a:cxnSpLocks/>
          </p:cNvCxnSpPr>
          <p:nvPr/>
        </p:nvCxnSpPr>
        <p:spPr>
          <a:xfrm>
            <a:off x="1210172" y="5496092"/>
            <a:ext cx="12245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1D3B7E4-EEA0-829C-DB9F-D109236D2610}"/>
              </a:ext>
            </a:extLst>
          </p:cNvPr>
          <p:cNvSpPr txBox="1"/>
          <p:nvPr/>
        </p:nvSpPr>
        <p:spPr>
          <a:xfrm>
            <a:off x="4204692" y="5321427"/>
            <a:ext cx="73116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name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True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なので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raise_his_character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(name)</a:t>
            </a:r>
          </a:p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が呼ばれる</a:t>
            </a:r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00E98885-5F1F-7791-BF7A-270BFADCC17E}"/>
              </a:ext>
            </a:extLst>
          </p:cNvPr>
          <p:cNvCxnSpPr>
            <a:cxnSpLocks/>
          </p:cNvCxnSpPr>
          <p:nvPr/>
        </p:nvCxnSpPr>
        <p:spPr>
          <a:xfrm>
            <a:off x="1433005" y="5883442"/>
            <a:ext cx="27716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37D270B8-DBDD-5A46-7684-86A6A15C4BB3}"/>
              </a:ext>
            </a:extLst>
          </p:cNvPr>
          <p:cNvCxnSpPr>
            <a:cxnSpLocks/>
          </p:cNvCxnSpPr>
          <p:nvPr/>
        </p:nvCxnSpPr>
        <p:spPr>
          <a:xfrm>
            <a:off x="973644" y="7599872"/>
            <a:ext cx="12996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4833C79-8FB5-2847-F78C-F3D88BB1E916}"/>
              </a:ext>
            </a:extLst>
          </p:cNvPr>
          <p:cNvSpPr txBox="1"/>
          <p:nvPr/>
        </p:nvSpPr>
        <p:spPr>
          <a:xfrm>
            <a:off x="2250061" y="7175181"/>
            <a:ext cx="854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④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a(David)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の文字列が表示される → 「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が入る</a:t>
            </a:r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61D6076F-FFE8-85BD-098E-86EC442A7EF7}"/>
              </a:ext>
            </a:extLst>
          </p:cNvPr>
          <p:cNvCxnSpPr>
            <a:cxnSpLocks/>
          </p:cNvCxnSpPr>
          <p:nvPr/>
        </p:nvCxnSpPr>
        <p:spPr>
          <a:xfrm>
            <a:off x="956520" y="7917372"/>
            <a:ext cx="118150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E1B26A8-2878-17CD-97BE-6BB3137DA63B}"/>
              </a:ext>
            </a:extLst>
          </p:cNvPr>
          <p:cNvSpPr txBox="1"/>
          <p:nvPr/>
        </p:nvSpPr>
        <p:spPr>
          <a:xfrm>
            <a:off x="2173861" y="7644204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⑤例外発生。ここで関数中断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4C22BDA2-9A48-8575-A875-A8CF9F172DCF}"/>
              </a:ext>
            </a:extLst>
          </p:cNvPr>
          <p:cNvSpPr/>
          <p:nvPr/>
        </p:nvSpPr>
        <p:spPr>
          <a:xfrm>
            <a:off x="14579600" y="156203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【A】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0FD3A3F-2244-C64B-39DE-951A0D175978}"/>
              </a:ext>
            </a:extLst>
          </p:cNvPr>
          <p:cNvSpPr/>
          <p:nvPr/>
        </p:nvSpPr>
        <p:spPr>
          <a:xfrm>
            <a:off x="14579600" y="226847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A426DC8-B679-C8BD-CBB2-6FEBF5CEEA20}"/>
              </a:ext>
            </a:extLst>
          </p:cNvPr>
          <p:cNvSpPr/>
          <p:nvPr/>
        </p:nvSpPr>
        <p:spPr>
          <a:xfrm>
            <a:off x="14579600" y="297710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【C】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D652FB3-818B-424C-1328-B763C9A6C486}"/>
              </a:ext>
            </a:extLst>
          </p:cNvPr>
          <p:cNvSpPr/>
          <p:nvPr/>
        </p:nvSpPr>
        <p:spPr>
          <a:xfrm>
            <a:off x="14579600" y="3681262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【D】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A8966B8F-54D4-6DDD-1CB2-043D526210B3}"/>
              </a:ext>
            </a:extLst>
          </p:cNvPr>
          <p:cNvSpPr/>
          <p:nvPr/>
        </p:nvSpPr>
        <p:spPr>
          <a:xfrm>
            <a:off x="15902863" y="2272950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1BC5E101-7E12-F603-B424-39F15F314C73}"/>
              </a:ext>
            </a:extLst>
          </p:cNvPr>
          <p:cNvCxnSpPr>
            <a:cxnSpLocks/>
          </p:cNvCxnSpPr>
          <p:nvPr/>
        </p:nvCxnSpPr>
        <p:spPr>
          <a:xfrm>
            <a:off x="956520" y="8111141"/>
            <a:ext cx="1181505" cy="0"/>
          </a:xfrm>
          <a:prstGeom prst="line">
            <a:avLst/>
          </a:prstGeom>
          <a:ln w="38100" cmpd="dbl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6557D211-B9ED-D397-1940-13B60ED233F2}"/>
              </a:ext>
            </a:extLst>
          </p:cNvPr>
          <p:cNvSpPr txBox="1"/>
          <p:nvPr/>
        </p:nvSpPr>
        <p:spPr>
          <a:xfrm>
            <a:off x="1970661" y="815020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⑥実行されない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90813F2-267C-B1F2-AC62-71E5BE4AEE37}"/>
              </a:ext>
            </a:extLst>
          </p:cNvPr>
          <p:cNvSpPr/>
          <p:nvPr/>
        </p:nvSpPr>
        <p:spPr>
          <a:xfrm>
            <a:off x="15902863" y="2970466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???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551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27" grpId="0"/>
      <p:bldP spid="32" grpId="0"/>
      <p:bldP spid="34" grpId="0"/>
      <p:bldP spid="39" grpId="0" animBg="1"/>
      <p:bldP spid="41" grpId="0"/>
      <p:bldP spid="4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AC13C-9B40-AFCB-99E2-D2BF01609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BAC5E620-D2C0-37D3-B0EE-5B0DA843E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DDA654-279B-C9FC-DDC0-F4129AA3B6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8495927-9CEE-7503-B328-F8AFC4149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62036"/>
            <a:ext cx="15146864" cy="91452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40B65FF-C791-AE87-8A15-8484FF4ED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76564"/>
            <a:ext cx="15146864" cy="737535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C7326D-C2D9-8ECB-52F7-A5937DF6A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639" y="5596615"/>
            <a:ext cx="4734586" cy="4124901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49B3F96-2A85-5783-1CF9-8FD264FFD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7835" y="2476564"/>
            <a:ext cx="1200318" cy="12670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C234066-7580-93A6-F11C-E5C26AD2691C}"/>
              </a:ext>
            </a:extLst>
          </p:cNvPr>
          <p:cNvSpPr/>
          <p:nvPr/>
        </p:nvSpPr>
        <p:spPr>
          <a:xfrm>
            <a:off x="12987835" y="5098381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242BE24-0451-9722-0056-C42906902A4C}"/>
              </a:ext>
            </a:extLst>
          </p:cNvPr>
          <p:cNvCxnSpPr>
            <a:cxnSpLocks/>
          </p:cNvCxnSpPr>
          <p:nvPr/>
        </p:nvCxnSpPr>
        <p:spPr>
          <a:xfrm>
            <a:off x="969645" y="62103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26424C-EED6-6BA2-4833-54AC9618D126}"/>
              </a:ext>
            </a:extLst>
          </p:cNvPr>
          <p:cNvSpPr txBox="1"/>
          <p:nvPr/>
        </p:nvSpPr>
        <p:spPr>
          <a:xfrm>
            <a:off x="2311659" y="5868207"/>
            <a:ext cx="4921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func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 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にキャッチされる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C362E8B-CF54-D1E3-CD1E-585F9E52386F}"/>
              </a:ext>
            </a:extLst>
          </p:cNvPr>
          <p:cNvSpPr/>
          <p:nvPr/>
        </p:nvSpPr>
        <p:spPr>
          <a:xfrm>
            <a:off x="14579600" y="156203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【A】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5E361DF2-BC62-918F-8DC1-493D58E30C58}"/>
              </a:ext>
            </a:extLst>
          </p:cNvPr>
          <p:cNvSpPr/>
          <p:nvPr/>
        </p:nvSpPr>
        <p:spPr>
          <a:xfrm>
            <a:off x="14579600" y="226847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F6EAD6F-3070-3A13-9DEC-86E8503BB91F}"/>
              </a:ext>
            </a:extLst>
          </p:cNvPr>
          <p:cNvSpPr/>
          <p:nvPr/>
        </p:nvSpPr>
        <p:spPr>
          <a:xfrm>
            <a:off x="14579600" y="297710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【C】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1F6228C7-6AB3-9B8D-F5E3-8138CED230CE}"/>
              </a:ext>
            </a:extLst>
          </p:cNvPr>
          <p:cNvSpPr/>
          <p:nvPr/>
        </p:nvSpPr>
        <p:spPr>
          <a:xfrm>
            <a:off x="14579600" y="3681262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【D】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52218F8D-9113-0C7E-E5E1-AB725DC694BC}"/>
              </a:ext>
            </a:extLst>
          </p:cNvPr>
          <p:cNvSpPr/>
          <p:nvPr/>
        </p:nvSpPr>
        <p:spPr>
          <a:xfrm>
            <a:off x="15902863" y="2272950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CC4D5946-9B3F-22F4-A75D-2E12C8BE43CF}"/>
              </a:ext>
            </a:extLst>
          </p:cNvPr>
          <p:cNvSpPr/>
          <p:nvPr/>
        </p:nvSpPr>
        <p:spPr>
          <a:xfrm>
            <a:off x="15902863" y="2970466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???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5D69565-EE4A-150F-EF09-4675609D861A}"/>
              </a:ext>
            </a:extLst>
          </p:cNvPr>
          <p:cNvCxnSpPr>
            <a:cxnSpLocks/>
          </p:cNvCxnSpPr>
          <p:nvPr/>
        </p:nvCxnSpPr>
        <p:spPr>
          <a:xfrm>
            <a:off x="1171287" y="6578600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8D0272-E66D-D688-91EC-FA0216D99A48}"/>
              </a:ext>
            </a:extLst>
          </p:cNvPr>
          <p:cNvSpPr txBox="1"/>
          <p:nvPr/>
        </p:nvSpPr>
        <p:spPr>
          <a:xfrm>
            <a:off x="2311659" y="6248400"/>
            <a:ext cx="6029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⑦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print【A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 → 「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strategic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」が入る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BB8F0CC-D12D-9CEA-ED71-25827540D91A}"/>
              </a:ext>
            </a:extLst>
          </p:cNvPr>
          <p:cNvSpPr/>
          <p:nvPr/>
        </p:nvSpPr>
        <p:spPr>
          <a:xfrm>
            <a:off x="15902863" y="1570960"/>
            <a:ext cx="1798203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2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strategic</a:t>
            </a:r>
            <a:endParaRPr kumimoji="1" lang="ja-JP" altLang="en-US" sz="32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A9FDF39-1DEF-FD59-D10E-8CD17C2F70AE}"/>
              </a:ext>
            </a:extLst>
          </p:cNvPr>
          <p:cNvCxnSpPr>
            <a:cxnSpLocks/>
          </p:cNvCxnSpPr>
          <p:nvPr/>
        </p:nvCxnSpPr>
        <p:spPr>
          <a:xfrm>
            <a:off x="1188828" y="6921500"/>
            <a:ext cx="157204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E744B4A-5459-B838-0289-6B4DBB7916D8}"/>
              </a:ext>
            </a:extLst>
          </p:cNvPr>
          <p:cNvSpPr txBox="1"/>
          <p:nvPr/>
        </p:nvSpPr>
        <p:spPr>
          <a:xfrm>
            <a:off x="2748172" y="6661190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⑧新しい例外を発生させる</a:t>
            </a: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BD27DE8-53BA-24CB-A3DD-C0C570F057A5}"/>
              </a:ext>
            </a:extLst>
          </p:cNvPr>
          <p:cNvCxnSpPr>
            <a:cxnSpLocks/>
          </p:cNvCxnSpPr>
          <p:nvPr/>
        </p:nvCxnSpPr>
        <p:spPr>
          <a:xfrm>
            <a:off x="1072126" y="9461500"/>
            <a:ext cx="1729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E26A52F-A955-7119-88F2-6BD779729E90}"/>
              </a:ext>
            </a:extLst>
          </p:cNvPr>
          <p:cNvSpPr txBox="1"/>
          <p:nvPr/>
        </p:nvSpPr>
        <p:spPr>
          <a:xfrm>
            <a:off x="2760872" y="9061390"/>
            <a:ext cx="3826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⑨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except Exception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でキャッチ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233AEA9-D974-EAB4-A726-3542EB043D13}"/>
              </a:ext>
            </a:extLst>
          </p:cNvPr>
          <p:cNvCxnSpPr>
            <a:cxnSpLocks/>
          </p:cNvCxnSpPr>
          <p:nvPr/>
        </p:nvCxnSpPr>
        <p:spPr>
          <a:xfrm>
            <a:off x="1272887" y="9788415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50E00A6-F8E5-A4C4-A278-23E12880E345}"/>
              </a:ext>
            </a:extLst>
          </p:cNvPr>
          <p:cNvSpPr txBox="1"/>
          <p:nvPr/>
        </p:nvSpPr>
        <p:spPr>
          <a:xfrm>
            <a:off x="2346614" y="9486880"/>
            <a:ext cx="52084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⑩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print【D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が実行される → 「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AI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」が入る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ED7C13F-F3C7-632A-1061-971701E2B8A0}"/>
              </a:ext>
            </a:extLst>
          </p:cNvPr>
          <p:cNvSpPr/>
          <p:nvPr/>
        </p:nvSpPr>
        <p:spPr>
          <a:xfrm>
            <a:off x="15902863" y="3667982"/>
            <a:ext cx="1015038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AI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16921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7" grpId="0"/>
      <p:bldP spid="13" grpId="0" animBg="1"/>
      <p:bldP spid="18" grpId="0"/>
      <p:bldP spid="20" grpId="0"/>
      <p:bldP spid="22" grpId="0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13AE-8669-5F93-9D3A-3374FFAB9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374105A-3D46-71F9-02EE-D264212D2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69" y="1582766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B75B5B5E-9898-8D82-4F2D-CE64F89E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ACBC82-60A0-552A-2546-CFC6A91AA9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DE1CB1F-F76C-5889-6927-7F3310C06DB3}"/>
              </a:ext>
            </a:extLst>
          </p:cNvPr>
          <p:cNvSpPr/>
          <p:nvPr/>
        </p:nvSpPr>
        <p:spPr>
          <a:xfrm>
            <a:off x="1126457" y="4235770"/>
            <a:ext cx="1328659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8FCF99F-E444-A3F4-8C3F-DB6D92C89EB1}"/>
              </a:ext>
            </a:extLst>
          </p:cNvPr>
          <p:cNvSpPr/>
          <p:nvPr/>
        </p:nvSpPr>
        <p:spPr>
          <a:xfrm>
            <a:off x="895031" y="2900278"/>
            <a:ext cx="1098065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62B4DD43-F0FD-3ECB-EF00-1A12D5DCEDA3}"/>
              </a:ext>
            </a:extLst>
          </p:cNvPr>
          <p:cNvSpPr/>
          <p:nvPr/>
        </p:nvSpPr>
        <p:spPr>
          <a:xfrm>
            <a:off x="2092097" y="2941420"/>
            <a:ext cx="1645733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A0AE25-EDE7-9FE0-7172-39DEE7BE2CE9}"/>
              </a:ext>
            </a:extLst>
          </p:cNvPr>
          <p:cNvSpPr txBox="1"/>
          <p:nvPr/>
        </p:nvSpPr>
        <p:spPr>
          <a:xfrm>
            <a:off x="3836831" y="2803165"/>
            <a:ext cx="500810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内の変数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（ローカル変数）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E9E2E6D-E8FD-399C-39CD-54217A44CEDB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280E2A6F-1F42-10AD-4B2A-DD7EEA2D4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8EEBAE9-D443-AD1E-9315-4B4D13A62759}"/>
              </a:ext>
            </a:extLst>
          </p:cNvPr>
          <p:cNvSpPr/>
          <p:nvPr/>
        </p:nvSpPr>
        <p:spPr>
          <a:xfrm>
            <a:off x="1145535" y="3558820"/>
            <a:ext cx="1207872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DF52BE25-7399-8815-C855-EB3A61B4B965}"/>
              </a:ext>
            </a:extLst>
          </p:cNvPr>
          <p:cNvSpPr/>
          <p:nvPr/>
        </p:nvSpPr>
        <p:spPr>
          <a:xfrm>
            <a:off x="2529958" y="3614932"/>
            <a:ext cx="1207872" cy="231088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EF4FA58-EC31-2905-5880-F0838F9F2F5A}"/>
              </a:ext>
            </a:extLst>
          </p:cNvPr>
          <p:cNvSpPr txBox="1"/>
          <p:nvPr/>
        </p:nvSpPr>
        <p:spPr>
          <a:xfrm>
            <a:off x="3836831" y="3483290"/>
            <a:ext cx="517481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これは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内だけの別のローカル変数</a:t>
            </a:r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7F3FA498-EA13-F055-44BC-27AC4584B86A}"/>
              </a:ext>
            </a:extLst>
          </p:cNvPr>
          <p:cNvSpPr/>
          <p:nvPr/>
        </p:nvSpPr>
        <p:spPr>
          <a:xfrm>
            <a:off x="2529958" y="4266347"/>
            <a:ext cx="1207872" cy="231088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2AE1EA-C42D-C3E2-E9EF-1E945F3292A7}"/>
              </a:ext>
            </a:extLst>
          </p:cNvPr>
          <p:cNvSpPr txBox="1"/>
          <p:nvPr/>
        </p:nvSpPr>
        <p:spPr>
          <a:xfrm>
            <a:off x="3836831" y="4147842"/>
            <a:ext cx="261642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を参照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7781E2B-A36C-8F7B-A1C1-28B331F4C88D}"/>
              </a:ext>
            </a:extLst>
          </p:cNvPr>
          <p:cNvSpPr/>
          <p:nvPr/>
        </p:nvSpPr>
        <p:spPr>
          <a:xfrm>
            <a:off x="1111538" y="5229606"/>
            <a:ext cx="1098065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EE310880-98D3-99D3-6AD5-827A7589F1FB}"/>
              </a:ext>
            </a:extLst>
          </p:cNvPr>
          <p:cNvSpPr/>
          <p:nvPr/>
        </p:nvSpPr>
        <p:spPr>
          <a:xfrm>
            <a:off x="2353407" y="5242638"/>
            <a:ext cx="1384423" cy="22702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F32EECE-D313-2D56-AD9A-64AB3050DD0A}"/>
              </a:ext>
            </a:extLst>
          </p:cNvPr>
          <p:cNvSpPr txBox="1"/>
          <p:nvPr/>
        </p:nvSpPr>
        <p:spPr>
          <a:xfrm>
            <a:off x="3836831" y="5139842"/>
            <a:ext cx="5710218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モジュール全体の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（グローバル変数）を参照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81AD7CD-DE0D-697B-FBD4-282F7BBB1012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3626712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19" grpId="0" animBg="1"/>
      <p:bldP spid="20" grpId="0" animBg="1"/>
      <p:bldP spid="15" grpId="0" animBg="1"/>
      <p:bldP spid="21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7E66B-EF2F-32F3-9450-90A4AAE00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F6A37AE-24D1-3FAD-3F71-E9C1602D1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69" y="1582766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0289F6D6-0D3A-3B7B-1C01-93B83B1A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252D309-134C-16EA-9709-ED00759022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8A7A461-6D0D-A38C-E906-3D493F1586B1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75E91E9-8E07-9AD6-8E4B-E2642060C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82F2288D-A846-600C-FB35-7C39A04FB5BF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F65CEB46-369B-E063-16A1-4ED79D6DE3B5}"/>
              </a:ext>
            </a:extLst>
          </p:cNvPr>
          <p:cNvCxnSpPr>
            <a:cxnSpLocks/>
          </p:cNvCxnSpPr>
          <p:nvPr/>
        </p:nvCxnSpPr>
        <p:spPr>
          <a:xfrm>
            <a:off x="891887" y="3200400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E5A63CC-9640-B04A-F2B5-1561CD7E93E2}"/>
              </a:ext>
            </a:extLst>
          </p:cNvPr>
          <p:cNvSpPr txBox="1"/>
          <p:nvPr/>
        </p:nvSpPr>
        <p:spPr>
          <a:xfrm>
            <a:off x="1965614" y="2839663"/>
            <a:ext cx="7273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関数内のローカル変数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が入る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0E62F67-1AF2-3277-6275-43A751501F2F}"/>
              </a:ext>
            </a:extLst>
          </p:cNvPr>
          <p:cNvCxnSpPr>
            <a:cxnSpLocks/>
          </p:cNvCxnSpPr>
          <p:nvPr/>
        </p:nvCxnSpPr>
        <p:spPr>
          <a:xfrm>
            <a:off x="891887" y="6536813"/>
            <a:ext cx="10737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B86E073-5446-B5D8-68FD-2DF5FA89ABB4}"/>
              </a:ext>
            </a:extLst>
          </p:cNvPr>
          <p:cNvSpPr txBox="1"/>
          <p:nvPr/>
        </p:nvSpPr>
        <p:spPr>
          <a:xfrm>
            <a:off x="1965614" y="6087176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3C78CC6-EC08-7B57-4AE9-D9ACE7C4152F}"/>
              </a:ext>
            </a:extLst>
          </p:cNvPr>
          <p:cNvCxnSpPr>
            <a:cxnSpLocks/>
          </p:cNvCxnSpPr>
          <p:nvPr/>
        </p:nvCxnSpPr>
        <p:spPr>
          <a:xfrm>
            <a:off x="1134745" y="3870676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E61357-F93A-3F4D-3B3D-675E48BA458D}"/>
              </a:ext>
            </a:extLst>
          </p:cNvPr>
          <p:cNvSpPr txBox="1"/>
          <p:nvPr/>
        </p:nvSpPr>
        <p:spPr>
          <a:xfrm>
            <a:off x="2433955" y="3534992"/>
            <a:ext cx="1483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内で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= "local"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ではなく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関数専用の一時ローカル変数を作るだけ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891B7CDB-A70C-C4A6-0626-292DA354F409}"/>
              </a:ext>
            </a:extLst>
          </p:cNvPr>
          <p:cNvCxnSpPr>
            <a:cxnSpLocks/>
          </p:cNvCxnSpPr>
          <p:nvPr/>
        </p:nvCxnSpPr>
        <p:spPr>
          <a:xfrm>
            <a:off x="904685" y="6843512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B7D0F59-ECD2-7CDD-5E0B-BB0B993A700B}"/>
              </a:ext>
            </a:extLst>
          </p:cNvPr>
          <p:cNvSpPr txBox="1"/>
          <p:nvPr/>
        </p:nvSpPr>
        <p:spPr>
          <a:xfrm>
            <a:off x="2433955" y="6507828"/>
            <a:ext cx="70230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④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は変更されない →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のまま。</a:t>
            </a:r>
          </a:p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print("A:", loc) → A: 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8427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7" grpId="0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53BD4-950D-874B-E1DE-B9BE622C3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9B08DC9-31D5-3E60-BDA5-B6E333B19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8" y="1574359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FC43F268-A5A6-0C31-59A3-B6DB5EDC5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99C851-8482-187D-39E5-38940C4843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A295B76-65F4-92E8-2BDF-8EC095FE2FF1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B21310D-C5BE-0778-4428-C4C02F441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7B7FAFB7-2559-2A5B-31BA-D6700A361E90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0D70707-AE5D-81F9-D871-3BD44200524A}"/>
              </a:ext>
            </a:extLst>
          </p:cNvPr>
          <p:cNvCxnSpPr>
            <a:cxnSpLocks/>
          </p:cNvCxnSpPr>
          <p:nvPr/>
        </p:nvCxnSpPr>
        <p:spPr>
          <a:xfrm>
            <a:off x="931545" y="71755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147FFF-7BB5-6895-FB1B-BDDAC762863F}"/>
              </a:ext>
            </a:extLst>
          </p:cNvPr>
          <p:cNvSpPr txBox="1"/>
          <p:nvPr/>
        </p:nvSpPr>
        <p:spPr>
          <a:xfrm>
            <a:off x="2413828" y="6814763"/>
            <a:ext cx="3288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⑤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do_nonlocal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A6BBC3D-0FB4-B6E2-8EE3-CCB5603676FF}"/>
              </a:ext>
            </a:extLst>
          </p:cNvPr>
          <p:cNvCxnSpPr>
            <a:cxnSpLocks/>
          </p:cNvCxnSpPr>
          <p:nvPr/>
        </p:nvCxnSpPr>
        <p:spPr>
          <a:xfrm>
            <a:off x="1122045" y="4516064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825D75B-31A9-4FB4-7C34-97BF9A39CC52}"/>
              </a:ext>
            </a:extLst>
          </p:cNvPr>
          <p:cNvSpPr txBox="1"/>
          <p:nvPr/>
        </p:nvSpPr>
        <p:spPr>
          <a:xfrm>
            <a:off x="2604328" y="4155327"/>
            <a:ext cx="7837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⑥nonlocal 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により、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scope()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を直接変更する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E57A33D-7723-1440-8505-A8A3CC2ED881}"/>
              </a:ext>
            </a:extLst>
          </p:cNvPr>
          <p:cNvCxnSpPr>
            <a:cxnSpLocks/>
          </p:cNvCxnSpPr>
          <p:nvPr/>
        </p:nvCxnSpPr>
        <p:spPr>
          <a:xfrm>
            <a:off x="1171385" y="4858965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4A307EE-2286-3F3B-3A6A-4FB4BFE01D15}"/>
              </a:ext>
            </a:extLst>
          </p:cNvPr>
          <p:cNvSpPr txBox="1"/>
          <p:nvPr/>
        </p:nvSpPr>
        <p:spPr>
          <a:xfrm>
            <a:off x="2604328" y="4612528"/>
            <a:ext cx="4770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⑦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init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 → "nonlocal" </a:t>
            </a:r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に変わる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5760309-0E40-D1C5-6C3A-B62849D88B70}"/>
              </a:ext>
            </a:extLst>
          </p:cNvPr>
          <p:cNvCxnSpPr>
            <a:cxnSpLocks/>
          </p:cNvCxnSpPr>
          <p:nvPr/>
        </p:nvCxnSpPr>
        <p:spPr>
          <a:xfrm>
            <a:off x="931545" y="7537323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55850E0-697E-C9B6-B82D-EB902A43B998}"/>
              </a:ext>
            </a:extLst>
          </p:cNvPr>
          <p:cNvSpPr txBox="1"/>
          <p:nvPr/>
        </p:nvSpPr>
        <p:spPr>
          <a:xfrm>
            <a:off x="2360676" y="7290886"/>
            <a:ext cx="53030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⑧ </a:t>
            </a:r>
            <a:r>
              <a:rPr kumimoji="1" lang="en-US" altLang="ja-JP" sz="24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print("B:", loc) → B: nonlocal</a:t>
            </a:r>
            <a:endParaRPr kumimoji="1" lang="ja-JP" altLang="en-US" sz="24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93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9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2E50-385B-EF0A-71BD-F5E8B789D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ADD3BE5-AA2D-EE8E-3B94-BEB7670E9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8" y="1467185"/>
            <a:ext cx="16629707" cy="776443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46DB678-2E93-6312-CA3C-F8BAC4D89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スコープ（変数の有効範囲）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9EDD4E7-381B-EB48-7AFE-A51219D428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64567C-BF6C-01F4-F497-1799E3AFBE63}"/>
              </a:ext>
            </a:extLst>
          </p:cNvPr>
          <p:cNvSpPr/>
          <p:nvPr/>
        </p:nvSpPr>
        <p:spPr>
          <a:xfrm>
            <a:off x="133933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01121D1-9C14-EEED-F2CD-F08DE3435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1495" y="5124322"/>
            <a:ext cx="4601217" cy="4277322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4AD0C996-AD50-3265-0599-329B0F0553F7}"/>
              </a:ext>
            </a:extLst>
          </p:cNvPr>
          <p:cNvSpPr/>
          <p:nvPr/>
        </p:nvSpPr>
        <p:spPr>
          <a:xfrm>
            <a:off x="13639418" y="61760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6AFECB8-AAB8-7D23-5E82-7E2D453E7CF9}"/>
              </a:ext>
            </a:extLst>
          </p:cNvPr>
          <p:cNvCxnSpPr>
            <a:cxnSpLocks/>
          </p:cNvCxnSpPr>
          <p:nvPr/>
        </p:nvCxnSpPr>
        <p:spPr>
          <a:xfrm>
            <a:off x="931545" y="7734300"/>
            <a:ext cx="12992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110326-C51B-11D1-7FDC-8EDCD352F877}"/>
              </a:ext>
            </a:extLst>
          </p:cNvPr>
          <p:cNvSpPr txBox="1"/>
          <p:nvPr/>
        </p:nvSpPr>
        <p:spPr>
          <a:xfrm>
            <a:off x="2268855" y="7462463"/>
            <a:ext cx="2462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⑨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do_global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実行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87C3391E-286D-0BCE-B229-F61EB8D400A7}"/>
              </a:ext>
            </a:extLst>
          </p:cNvPr>
          <p:cNvCxnSpPr>
            <a:cxnSpLocks/>
          </p:cNvCxnSpPr>
          <p:nvPr/>
        </p:nvCxnSpPr>
        <p:spPr>
          <a:xfrm>
            <a:off x="1232793" y="5377237"/>
            <a:ext cx="97611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FEBF43-12D8-3766-8B62-E91C0302FB6C}"/>
              </a:ext>
            </a:extLst>
          </p:cNvPr>
          <p:cNvSpPr txBox="1"/>
          <p:nvPr/>
        </p:nvSpPr>
        <p:spPr>
          <a:xfrm>
            <a:off x="2565400" y="5143500"/>
            <a:ext cx="779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⑩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loc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により、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=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“global“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という新しい変数が作られる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3A94EDF-8F23-B60F-A31E-F1CE165B0DCC}"/>
              </a:ext>
            </a:extLst>
          </p:cNvPr>
          <p:cNvCxnSpPr>
            <a:cxnSpLocks/>
          </p:cNvCxnSpPr>
          <p:nvPr/>
        </p:nvCxnSpPr>
        <p:spPr>
          <a:xfrm>
            <a:off x="1232793" y="5732837"/>
            <a:ext cx="13326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532D6416-4CBB-3B55-FD48-4503D6D9150A}"/>
              </a:ext>
            </a:extLst>
          </p:cNvPr>
          <p:cNvCxnSpPr>
            <a:cxnSpLocks/>
          </p:cNvCxnSpPr>
          <p:nvPr/>
        </p:nvCxnSpPr>
        <p:spPr>
          <a:xfrm>
            <a:off x="993585" y="8081665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E6959AB-9DE8-C213-85B7-186601C3FE7C}"/>
              </a:ext>
            </a:extLst>
          </p:cNvPr>
          <p:cNvSpPr txBox="1"/>
          <p:nvPr/>
        </p:nvSpPr>
        <p:spPr>
          <a:xfrm>
            <a:off x="2565400" y="7822528"/>
            <a:ext cx="77732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⑪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print("C:", loc)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関数内の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（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"nonlocal"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）を見る。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print("C:", loc) → C: nonlocal</a:t>
            </a:r>
            <a:endParaRPr kumimoji="1" lang="ja-JP" altLang="en-US" sz="20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16771BD8-F63B-83FA-4BD0-8DFBDFAED96B}"/>
              </a:ext>
            </a:extLst>
          </p:cNvPr>
          <p:cNvCxnSpPr>
            <a:cxnSpLocks/>
          </p:cNvCxnSpPr>
          <p:nvPr/>
        </p:nvCxnSpPr>
        <p:spPr>
          <a:xfrm>
            <a:off x="739585" y="9110061"/>
            <a:ext cx="14291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8355063-2326-F20C-E91D-5C47D494CD68}"/>
              </a:ext>
            </a:extLst>
          </p:cNvPr>
          <p:cNvSpPr txBox="1"/>
          <p:nvPr/>
        </p:nvSpPr>
        <p:spPr>
          <a:xfrm>
            <a:off x="2230755" y="8749324"/>
            <a:ext cx="6795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⑫これは関数外なのでグローバル変数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を参照。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先ほど </a:t>
            </a:r>
            <a:r>
              <a:rPr kumimoji="1" lang="en-US" altLang="ja-JP" sz="2000" b="1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do_global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"global" </a:t>
            </a:r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に設定された値が出る。</a:t>
            </a:r>
          </a:p>
          <a:p>
            <a:r>
              <a:rPr kumimoji="1" lang="ja-JP" altLang="en-US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→ </a:t>
            </a:r>
            <a:r>
              <a:rPr kumimoji="1" lang="en-US" altLang="ja-JP" sz="20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D: global</a:t>
            </a:r>
            <a:endParaRPr kumimoji="1" lang="ja-JP" altLang="en-US" sz="2000" b="1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4842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7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8E00-AD5B-B686-222D-CE2129B45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4CDF1076-3C3B-5333-E84F-74FBEFE5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補足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】global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B20F28-3A07-1FB5-2928-E9171860BB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1F2ADC-A5A7-7951-B2D6-5C75823E2C10}"/>
              </a:ext>
            </a:extLst>
          </p:cNvPr>
          <p:cNvSpPr txBox="1"/>
          <p:nvPr/>
        </p:nvSpPr>
        <p:spPr>
          <a:xfrm>
            <a:off x="522775" y="1505702"/>
            <a:ext cx="32976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</a:t>
            </a:r>
            <a:r>
              <a:rPr kumimoji="1" lang="ja-JP" alt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3076193-6FF2-1F31-19A0-77FB79613795}"/>
              </a:ext>
            </a:extLst>
          </p:cNvPr>
          <p:cNvCxnSpPr>
            <a:cxnSpLocks/>
          </p:cNvCxnSpPr>
          <p:nvPr/>
        </p:nvCxnSpPr>
        <p:spPr>
          <a:xfrm>
            <a:off x="9144000" y="1689100"/>
            <a:ext cx="0" cy="76327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501AE0F-D966-4CB6-7044-07AFC2275884}"/>
              </a:ext>
            </a:extLst>
          </p:cNvPr>
          <p:cNvSpPr txBox="1"/>
          <p:nvPr/>
        </p:nvSpPr>
        <p:spPr>
          <a:xfrm>
            <a:off x="9683233" y="1505702"/>
            <a:ext cx="39100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</a:t>
            </a:r>
            <a:r>
              <a:rPr kumimoji="1" lang="ja-JP" alt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の役割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8D39D61-4469-ECE7-33E4-D3C154B47112}"/>
              </a:ext>
            </a:extLst>
          </p:cNvPr>
          <p:cNvSpPr/>
          <p:nvPr/>
        </p:nvSpPr>
        <p:spPr>
          <a:xfrm>
            <a:off x="522775" y="3959086"/>
            <a:ext cx="8138624" cy="4330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800" dirty="0">
                <a:latin typeface="+mn-ea"/>
              </a:rPr>
              <a:t>x = 10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</a:t>
            </a:r>
          </a:p>
          <a:p>
            <a:endParaRPr kumimoji="1" lang="ja-JP" altLang="en-US" sz="2800" dirty="0">
              <a:latin typeface="+mn-ea"/>
            </a:endParaRPr>
          </a:p>
          <a:p>
            <a:r>
              <a:rPr kumimoji="1" lang="en-US" altLang="ja-JP" sz="2800" dirty="0">
                <a:latin typeface="+mn-ea"/>
              </a:rPr>
              <a:t>def </a:t>
            </a:r>
            <a:r>
              <a:rPr kumimoji="1" lang="en-US" altLang="ja-JP" sz="2800" dirty="0" err="1">
                <a:latin typeface="+mn-ea"/>
              </a:rPr>
              <a:t>set_global</a:t>
            </a:r>
            <a:r>
              <a:rPr kumimoji="1" lang="en-US" altLang="ja-JP" sz="2800" dirty="0">
                <a:latin typeface="+mn-ea"/>
              </a:rPr>
              <a:t>():</a:t>
            </a:r>
          </a:p>
          <a:p>
            <a:r>
              <a:rPr kumimoji="1" lang="en-US" altLang="ja-JP" sz="2800" dirty="0">
                <a:latin typeface="+mn-ea"/>
              </a:rPr>
              <a:t>    global x</a:t>
            </a:r>
          </a:p>
          <a:p>
            <a:r>
              <a:rPr kumimoji="1" lang="en-US" altLang="ja-JP" sz="2800" dirty="0">
                <a:latin typeface="+mn-ea"/>
              </a:rPr>
              <a:t>    x = 99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x </a:t>
            </a:r>
            <a:r>
              <a:rPr kumimoji="1" lang="ja-JP" altLang="en-US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を変更</a:t>
            </a:r>
          </a:p>
          <a:p>
            <a:endParaRPr kumimoji="1" lang="ja-JP" altLang="en-US" sz="2800" dirty="0">
              <a:latin typeface="+mn-ea"/>
            </a:endParaRPr>
          </a:p>
          <a:p>
            <a:r>
              <a:rPr kumimoji="1" lang="en-US" altLang="ja-JP" sz="2800" dirty="0" err="1">
                <a:latin typeface="+mn-ea"/>
              </a:rPr>
              <a:t>set_global</a:t>
            </a:r>
            <a:r>
              <a:rPr kumimoji="1" lang="en-US" altLang="ja-JP" sz="2800" dirty="0">
                <a:latin typeface="+mn-ea"/>
              </a:rPr>
              <a:t>()</a:t>
            </a:r>
          </a:p>
          <a:p>
            <a:r>
              <a:rPr kumimoji="1" lang="en-US" altLang="ja-JP" sz="2800" dirty="0">
                <a:latin typeface="+mn-ea"/>
              </a:rPr>
              <a:t>print(x)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99</a:t>
            </a:r>
          </a:p>
          <a:p>
            <a:endParaRPr kumimoji="1" lang="ja-JP" altLang="en-US" sz="2800" dirty="0">
              <a:latin typeface="+mn-ea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33993A9-86C0-3608-D7D6-B53D812D6D5C}"/>
              </a:ext>
            </a:extLst>
          </p:cNvPr>
          <p:cNvSpPr txBox="1"/>
          <p:nvPr/>
        </p:nvSpPr>
        <p:spPr>
          <a:xfrm>
            <a:off x="522775" y="8597900"/>
            <a:ext cx="8138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グローバル変数を変更するには 必ず 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宣言が必要（参照だけなら不要）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DF0FBF6-8DE1-DFA2-4885-B60E2814DCEA}"/>
              </a:ext>
            </a:extLst>
          </p:cNvPr>
          <p:cNvSpPr/>
          <p:nvPr/>
        </p:nvSpPr>
        <p:spPr>
          <a:xfrm>
            <a:off x="9683233" y="3959086"/>
            <a:ext cx="8138624" cy="4330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+mn-ea"/>
              </a:rPr>
              <a:t>def outer():</a:t>
            </a:r>
          </a:p>
          <a:p>
            <a:r>
              <a:rPr kumimoji="1" lang="en-US" altLang="ja-JP" sz="2400" dirty="0">
                <a:latin typeface="+mn-ea"/>
              </a:rPr>
              <a:t>    y = 10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外側関数のローカル変数</a:t>
            </a:r>
          </a:p>
          <a:p>
            <a:endParaRPr kumimoji="1" lang="ja-JP" altLang="en-US" sz="2400" dirty="0">
              <a:latin typeface="+mn-ea"/>
            </a:endParaRPr>
          </a:p>
          <a:p>
            <a:r>
              <a:rPr kumimoji="1" lang="ja-JP" altLang="en-US" sz="2400" dirty="0">
                <a:latin typeface="+mn-ea"/>
              </a:rPr>
              <a:t>    </a:t>
            </a:r>
            <a:r>
              <a:rPr kumimoji="1" lang="en-US" altLang="ja-JP" sz="2400" dirty="0">
                <a:latin typeface="+mn-ea"/>
              </a:rPr>
              <a:t>def inner():</a:t>
            </a:r>
          </a:p>
          <a:p>
            <a:r>
              <a:rPr kumimoji="1" lang="en-US" altLang="ja-JP" sz="2400" dirty="0">
                <a:latin typeface="+mn-ea"/>
              </a:rPr>
              <a:t>        nonlocal y</a:t>
            </a:r>
          </a:p>
          <a:p>
            <a:r>
              <a:rPr kumimoji="1" lang="en-US" altLang="ja-JP" sz="2400" dirty="0">
                <a:latin typeface="+mn-ea"/>
              </a:rPr>
              <a:t>        y = 99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outer()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y 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を変更</a:t>
            </a:r>
          </a:p>
          <a:p>
            <a:endParaRPr kumimoji="1" lang="ja-JP" altLang="en-US" sz="2400" dirty="0">
              <a:latin typeface="+mn-ea"/>
            </a:endParaRPr>
          </a:p>
          <a:p>
            <a:r>
              <a:rPr kumimoji="1" lang="ja-JP" altLang="en-US" sz="2400" dirty="0">
                <a:latin typeface="+mn-ea"/>
              </a:rPr>
              <a:t>    </a:t>
            </a:r>
            <a:r>
              <a:rPr kumimoji="1" lang="en-US" altLang="ja-JP" sz="2400" dirty="0">
                <a:latin typeface="+mn-ea"/>
              </a:rPr>
              <a:t>inner()</a:t>
            </a:r>
          </a:p>
          <a:p>
            <a:r>
              <a:rPr kumimoji="1" lang="en-US" altLang="ja-JP" sz="2400" dirty="0">
                <a:latin typeface="+mn-ea"/>
              </a:rPr>
              <a:t>    print(y)  </a:t>
            </a:r>
            <a:r>
              <a:rPr kumimoji="1" lang="en-US" altLang="ja-JP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99</a:t>
            </a:r>
          </a:p>
          <a:p>
            <a:endParaRPr kumimoji="1" lang="en-US" altLang="ja-JP" sz="2400" dirty="0">
              <a:latin typeface="+mn-ea"/>
            </a:endParaRPr>
          </a:p>
          <a:p>
            <a:r>
              <a:rPr kumimoji="1" lang="en-US" altLang="ja-JP" sz="2400" dirty="0">
                <a:latin typeface="+mn-ea"/>
              </a:rPr>
              <a:t>outer()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925FA16-9BAE-61D6-1750-D2BD7C5EDA8E}"/>
              </a:ext>
            </a:extLst>
          </p:cNvPr>
          <p:cNvSpPr txBox="1"/>
          <p:nvPr/>
        </p:nvSpPr>
        <p:spPr>
          <a:xfrm>
            <a:off x="9683233" y="8422155"/>
            <a:ext cx="81386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nonlocal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とは違い、モジュール全体ではなく</a:t>
            </a:r>
            <a:endParaRPr kumimoji="1" lang="en-US" altLang="ja-JP" sz="24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外側の関数だけに影響。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関数が複数階層でネストしている場合にも有効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4A3FE86-BFA3-D927-7B58-C750C6440038}"/>
              </a:ext>
            </a:extLst>
          </p:cNvPr>
          <p:cNvSpPr txBox="1"/>
          <p:nvPr/>
        </p:nvSpPr>
        <p:spPr>
          <a:xfrm>
            <a:off x="522775" y="2282457"/>
            <a:ext cx="8138624" cy="1569660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「この変数は グローバル変数 を使います」と宣言するキーワード。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関数内で </a:t>
            </a:r>
            <a:r>
              <a:rPr kumimoji="1" lang="en-US" altLang="ja-JP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global 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変数名 を書くと、関数の外の変数を直接参照・変更できる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749E3BA-B8C2-04E4-7C12-24E4817AFFD2}"/>
              </a:ext>
            </a:extLst>
          </p:cNvPr>
          <p:cNvSpPr txBox="1"/>
          <p:nvPr/>
        </p:nvSpPr>
        <p:spPr>
          <a:xfrm>
            <a:off x="9683233" y="2257057"/>
            <a:ext cx="8138624" cy="1569660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「この変数は 一つ外側の関数のローカル変数 を使います」と宣言するキーワード。</a:t>
            </a:r>
          </a:p>
          <a:p>
            <a:r>
              <a:rPr kumimoji="1" lang="ja-JP" altLang="en-US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入れ子関数（ネストされた関数）</a:t>
            </a:r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でしか使えない。</a:t>
            </a:r>
          </a:p>
          <a:p>
            <a:r>
              <a:rPr kumimoji="1"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外側の関数のローカル変数を直接変更できる。</a:t>
            </a:r>
          </a:p>
        </p:txBody>
      </p:sp>
    </p:spTree>
    <p:extLst>
      <p:ext uri="{BB962C8B-B14F-4D97-AF65-F5344CB8AC3E}">
        <p14:creationId xmlns:p14="http://schemas.microsoft.com/office/powerpoint/2010/main" val="3078756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53575-2758-F401-C1DE-467F2718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3094262-41F2-2C74-B5A1-99909F402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714390"/>
            <a:ext cx="13884972" cy="768725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4BFD8D6-5470-5A6C-7794-1B95CC50B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3395" y="5143500"/>
            <a:ext cx="4286848" cy="4353533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9A463A3E-B3AF-5F4D-8E58-2E03E2619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33.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クラスの継承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DF92BBE-FB95-A9D8-634E-0927BD8EC0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EFBBC97-9C85-238F-659B-BAB8850C474B}"/>
              </a:ext>
            </a:extLst>
          </p:cNvPr>
          <p:cNvSpPr/>
          <p:nvPr/>
        </p:nvSpPr>
        <p:spPr>
          <a:xfrm>
            <a:off x="13355295" y="4629470"/>
            <a:ext cx="1406446" cy="498234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D517310-F3C7-B3F2-45DC-F87953983198}"/>
              </a:ext>
            </a:extLst>
          </p:cNvPr>
          <p:cNvSpPr/>
          <p:nvPr/>
        </p:nvSpPr>
        <p:spPr>
          <a:xfrm>
            <a:off x="13772768" y="5485676"/>
            <a:ext cx="419100" cy="4191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EE82E4F-EE0A-E55F-FCAD-4B37715DFF7F}"/>
              </a:ext>
            </a:extLst>
          </p:cNvPr>
          <p:cNvSpPr/>
          <p:nvPr/>
        </p:nvSpPr>
        <p:spPr>
          <a:xfrm>
            <a:off x="1166288" y="5988419"/>
            <a:ext cx="423352" cy="330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C4218C66-0831-468A-78A5-01A9B493ECAB}"/>
              </a:ext>
            </a:extLst>
          </p:cNvPr>
          <p:cNvSpPr/>
          <p:nvPr/>
        </p:nvSpPr>
        <p:spPr>
          <a:xfrm>
            <a:off x="1689100" y="6051919"/>
            <a:ext cx="2349499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C122F9F-D806-6E8C-926D-F0011B6BA9AA}"/>
              </a:ext>
            </a:extLst>
          </p:cNvPr>
          <p:cNvSpPr txBox="1"/>
          <p:nvPr/>
        </p:nvSpPr>
        <p:spPr>
          <a:xfrm>
            <a:off x="4138059" y="5918509"/>
            <a:ext cx="6561412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内で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m()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を呼びたい</a:t>
            </a: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インスタンスメソッドを呼び出すので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self.m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が正しい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D455270-FACF-F097-FC7D-35BE800EEC19}"/>
              </a:ext>
            </a:extLst>
          </p:cNvPr>
          <p:cNvSpPr/>
          <p:nvPr/>
        </p:nvSpPr>
        <p:spPr>
          <a:xfrm>
            <a:off x="723900" y="6917994"/>
            <a:ext cx="2082800" cy="2728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23BDA081-8C49-7F7E-27F5-8CF326E33021}"/>
              </a:ext>
            </a:extLst>
          </p:cNvPr>
          <p:cNvSpPr/>
          <p:nvPr/>
        </p:nvSpPr>
        <p:spPr>
          <a:xfrm>
            <a:off x="2895600" y="6932752"/>
            <a:ext cx="1142999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7DD622-0452-ECBF-E857-000A597D39FA}"/>
              </a:ext>
            </a:extLst>
          </p:cNvPr>
          <p:cNvSpPr txBox="1"/>
          <p:nvPr/>
        </p:nvSpPr>
        <p:spPr>
          <a:xfrm>
            <a:off x="4138059" y="6755930"/>
            <a:ext cx="208422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kusanagi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を継承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2AF7D90-48EC-24F0-5CD0-757233F80E42}"/>
              </a:ext>
            </a:extLst>
          </p:cNvPr>
          <p:cNvSpPr/>
          <p:nvPr/>
        </p:nvSpPr>
        <p:spPr>
          <a:xfrm>
            <a:off x="1559688" y="7243232"/>
            <a:ext cx="318070" cy="2480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9A49342-D51C-C141-7911-19ED50C32751}"/>
              </a:ext>
            </a:extLst>
          </p:cNvPr>
          <p:cNvSpPr/>
          <p:nvPr/>
        </p:nvSpPr>
        <p:spPr>
          <a:xfrm>
            <a:off x="1955799" y="7299992"/>
            <a:ext cx="2082800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D0CEA52-6C2B-4F24-5984-CE7E1D1D5943}"/>
              </a:ext>
            </a:extLst>
          </p:cNvPr>
          <p:cNvSpPr txBox="1"/>
          <p:nvPr/>
        </p:nvSpPr>
        <p:spPr>
          <a:xfrm>
            <a:off x="4138059" y="7268182"/>
            <a:ext cx="7582525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wexal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m()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をオーバーライドして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"I'm David."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を表示させたい</a:t>
            </a:r>
          </a:p>
          <a:p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メソッド定義は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def m(self):</a:t>
            </a:r>
            <a:endParaRPr kumimoji="1" lang="ja-JP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54E6DF9-CA4B-C691-4139-29D29FD67D1F}"/>
              </a:ext>
            </a:extLst>
          </p:cNvPr>
          <p:cNvSpPr/>
          <p:nvPr/>
        </p:nvSpPr>
        <p:spPr>
          <a:xfrm>
            <a:off x="960359" y="9051679"/>
            <a:ext cx="318070" cy="2480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EA4A592D-C8B2-4053-3993-5C8F87BC4882}"/>
              </a:ext>
            </a:extLst>
          </p:cNvPr>
          <p:cNvSpPr/>
          <p:nvPr/>
        </p:nvSpPr>
        <p:spPr>
          <a:xfrm>
            <a:off x="1377963" y="9051679"/>
            <a:ext cx="2660635" cy="21797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AB9A948-7DD7-FD20-3A37-C47DAF518E0D}"/>
              </a:ext>
            </a:extLst>
          </p:cNvPr>
          <p:cNvSpPr txBox="1"/>
          <p:nvPr/>
        </p:nvSpPr>
        <p:spPr>
          <a:xfrm>
            <a:off x="4138059" y="8975854"/>
            <a:ext cx="6514925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回目の呼び出しは </a:t>
            </a:r>
            <a:r>
              <a:rPr kumimoji="1" lang="en-US" altLang="ja-JP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w.s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()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で 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"Need Speed?" 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を出したい</a:t>
            </a:r>
          </a:p>
        </p:txBody>
      </p:sp>
    </p:spTree>
    <p:extLst>
      <p:ext uri="{BB962C8B-B14F-4D97-AF65-F5344CB8AC3E}">
        <p14:creationId xmlns:p14="http://schemas.microsoft.com/office/powerpoint/2010/main" val="419537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32" grpId="0" animBg="1"/>
      <p:bldP spid="33" grpId="0" animBg="1"/>
      <p:bldP spid="34" grpId="0" animBg="1"/>
      <p:bldP spid="35" grpId="0" animBg="1"/>
    </p:bldLst>
  </p:timing>
</p:sld>
</file>

<file path=ppt/theme/theme1.xml><?xml version="1.0" encoding="utf-8"?>
<a:theme xmlns:a="http://schemas.openxmlformats.org/drawingml/2006/main" name="No 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lnair">
      <a:majorFont>
        <a:latin typeface="Bebas Neue Regular"/>
        <a:ea typeface="Capella Light"/>
        <a:cs typeface=""/>
      </a:majorFont>
      <a:minorFont>
        <a:latin typeface="Roboto"/>
        <a:ea typeface="Capell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0066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solidFill>
              <a:schemeClr val="tx1">
                <a:lumMod val="85000"/>
                <a:lumOff val="15000"/>
              </a:schemeClr>
            </a:solidFill>
            <a:latin typeface="Aller Light" panose="02000503000000020004" pitchFamily="2" charset="0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2">
      <a:majorFont>
        <a:latin typeface="Consolas"/>
        <a:ea typeface="Noto Sans JP"/>
        <a:cs typeface=""/>
      </a:majorFont>
      <a:minorFont>
        <a:latin typeface="Consolas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6600"/>
        </a:solidFill>
        <a:ln>
          <a:noFill/>
        </a:ln>
      </a:spPr>
      <a:bodyPr rtlCol="0" anchor="ctr"/>
      <a:lstStyle>
        <a:defPPr algn="ctr">
          <a:defRPr sz="40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kumimoji="1" dirty="0" smtClean="0">
            <a:solidFill>
              <a:schemeClr val="tx1">
                <a:lumMod val="85000"/>
                <a:lumOff val="15000"/>
              </a:schemeClr>
            </a:solidFill>
            <a:latin typeface="+mj-lt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15597</TotalTime>
  <Words>1685</Words>
  <Application>Microsoft Office PowerPoint</Application>
  <PresentationFormat>ユーザー設定</PresentationFormat>
  <Paragraphs>234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19</vt:i4>
      </vt:variant>
    </vt:vector>
  </HeadingPairs>
  <TitlesOfParts>
    <vt:vector size="28" baseType="lpstr">
      <vt:lpstr>Aller Light</vt:lpstr>
      <vt:lpstr>Bebas Neue Bold</vt:lpstr>
      <vt:lpstr>Noto Sans JP</vt:lpstr>
      <vt:lpstr>Arial</vt:lpstr>
      <vt:lpstr>Calibri</vt:lpstr>
      <vt:lpstr>Consolas</vt:lpstr>
      <vt:lpstr>Wingdings</vt:lpstr>
      <vt:lpstr>No Header</vt:lpstr>
      <vt:lpstr>Header</vt:lpstr>
      <vt:lpstr>7.文字列操作</vt:lpstr>
      <vt:lpstr>9.リスト操作</vt:lpstr>
      <vt:lpstr>9.リスト操作</vt:lpstr>
      <vt:lpstr>9.リスト操作</vt:lpstr>
      <vt:lpstr>10.forループ</vt:lpstr>
      <vt:lpstr>10.forループ</vt:lpstr>
      <vt:lpstr>12.インデックスと要素の取得</vt:lpstr>
      <vt:lpstr>19.zipとアンパック</vt:lpstr>
      <vt:lpstr>19.zipとアンパック</vt:lpstr>
      <vt:lpstr>19.zipとアンパック</vt:lpstr>
      <vt:lpstr>31.例外送出</vt:lpstr>
      <vt:lpstr>31.例外送出</vt:lpstr>
      <vt:lpstr>31.例外送出</vt:lpstr>
      <vt:lpstr>32.スコープ（変数の有効範囲）</vt:lpstr>
      <vt:lpstr>32.スコープ（変数の有効範囲）</vt:lpstr>
      <vt:lpstr>32.スコープ（変数の有効範囲）</vt:lpstr>
      <vt:lpstr>32.スコープ（変数の有効範囲）</vt:lpstr>
      <vt:lpstr>【補足】globalとnonlocalの役割</vt:lpstr>
      <vt:lpstr>33.クラスの継承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taitoru</dc:title>
  <dc:creator>秋咲准</dc:creator>
  <cp:lastModifiedBy>1855</cp:lastModifiedBy>
  <cp:revision>287</cp:revision>
  <dcterms:created xsi:type="dcterms:W3CDTF">2014-05-07T13:22:54Z</dcterms:created>
  <dcterms:modified xsi:type="dcterms:W3CDTF">2026-02-17T00:03:49Z</dcterms:modified>
</cp:coreProperties>
</file>